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b64224751e4727" /><Relationship Type="http://schemas.openxmlformats.org/officeDocument/2006/relationships/extended-properties" Target="/docProps/app.xml" Id="R40a80c6171d24035" /><Relationship Type="http://schemas.openxmlformats.org/officeDocument/2006/relationships/officeDocument" Target="/ppt/presentation.xml" Id="R594e4cecd6a348b6" /></Relationships>
</file>

<file path=ppt/presentation.xml><?xml version="1.0" encoding="utf-8"?>
<p:presentation xmlns:p="http://schemas.openxmlformats.org/presentationml/2006/main">
  <p:sldMasterIdLst>
    <p:sldMasterId xmlns:r="http://schemas.openxmlformats.org/officeDocument/2006/relationships" id="2147483648" r:id="R287d694d7fae44c7"/>
  </p:sldMasterIdLst>
  <p:notesMasterIdLst>
    <p:notesMasterId xmlns:r="http://schemas.openxmlformats.org/officeDocument/2006/relationships" r:id="R8501d3819b384dd5"/>
  </p:notesMasterIdLst>
  <p:sldIdLst>
    <p:sldId xmlns:r="http://schemas.openxmlformats.org/officeDocument/2006/relationships" id="256" r:id="R3340f86bc18345ca"/>
    <p:sldId xmlns:r="http://schemas.openxmlformats.org/officeDocument/2006/relationships" id="257" r:id="R07f5af5c713f4742"/>
    <p:sldId xmlns:r="http://schemas.openxmlformats.org/officeDocument/2006/relationships" id="258" r:id="R1d2d1913c81946dd"/>
    <p:sldId xmlns:r="http://schemas.openxmlformats.org/officeDocument/2006/relationships" id="259" r:id="R23edcabf27d8455e"/>
    <p:sldId xmlns:r="http://schemas.openxmlformats.org/officeDocument/2006/relationships" id="260" r:id="Rd38ef00028084efb"/>
    <p:sldId xmlns:r="http://schemas.openxmlformats.org/officeDocument/2006/relationships" id="261" r:id="R6aec7a27ff8b40e1"/>
    <p:sldId xmlns:r="http://schemas.openxmlformats.org/officeDocument/2006/relationships" id="262" r:id="Rcc49e8fdd4634811"/>
    <p:sldId xmlns:r="http://schemas.openxmlformats.org/officeDocument/2006/relationships" id="263" r:id="R86216568eaea4cd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a6455caa5e463f" /><Relationship Type="http://schemas.openxmlformats.org/officeDocument/2006/relationships/slideMaster" Target="/ppt/slideMasters/slideMaster1.xml" Id="R287d694d7fae44c7" /><Relationship Type="http://schemas.openxmlformats.org/officeDocument/2006/relationships/notesMaster" Target="/ppt/notesMasters/notesMaster1.xml" Id="R8501d3819b384dd5" /><Relationship Type="http://schemas.openxmlformats.org/officeDocument/2006/relationships/presProps" Target="/ppt/presProps.xml" Id="R8456e28350254402" /><Relationship Type="http://schemas.openxmlformats.org/officeDocument/2006/relationships/tableStyles" Target="/ppt/tableStyles.xml" Id="Rad5be0d96bd1433e" /><Relationship Type="http://schemas.openxmlformats.org/officeDocument/2006/relationships/slide" Target="/ppt/slides/slide1.xml" Id="R3340f86bc18345ca" /><Relationship Type="http://schemas.openxmlformats.org/officeDocument/2006/relationships/slide" Target="/ppt/slides/slide2.xml" Id="R07f5af5c713f4742" /><Relationship Type="http://schemas.openxmlformats.org/officeDocument/2006/relationships/slide" Target="/ppt/slides/slide3.xml" Id="R1d2d1913c81946dd" /><Relationship Type="http://schemas.openxmlformats.org/officeDocument/2006/relationships/slide" Target="/ppt/slides/slide4.xml" Id="R23edcabf27d8455e" /><Relationship Type="http://schemas.openxmlformats.org/officeDocument/2006/relationships/slide" Target="/ppt/slides/slide5.xml" Id="Rd38ef00028084efb" /><Relationship Type="http://schemas.openxmlformats.org/officeDocument/2006/relationships/slide" Target="/ppt/slides/slide6.xml" Id="R6aec7a27ff8b40e1" /><Relationship Type="http://schemas.openxmlformats.org/officeDocument/2006/relationships/slide" Target="/ppt/slides/slide7.xml" Id="Rcc49e8fdd4634811" /><Relationship Type="http://schemas.openxmlformats.org/officeDocument/2006/relationships/slide" Target="/ppt/slides/slide8.xml" Id="R86216568eaea4c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1578fc3b0149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83eead53ee4ee5" /><Relationship Type="http://schemas.openxmlformats.org/officeDocument/2006/relationships/notesMaster" Target="/ppt/notesMasters/notesMaster1.xml" Id="Rf6bc8970a0d04c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1529c581854bda" /><Relationship Type="http://schemas.openxmlformats.org/officeDocument/2006/relationships/notesMaster" Target="/ppt/notesMasters/notesMaster1.xml" Id="R841d85f4165f47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6b898a6b564aa2" /><Relationship Type="http://schemas.openxmlformats.org/officeDocument/2006/relationships/notesMaster" Target="/ppt/notesMasters/notesMaster1.xml" Id="Ra2fe8898abc043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9dc41e51da4abf" /><Relationship Type="http://schemas.openxmlformats.org/officeDocument/2006/relationships/notesMaster" Target="/ppt/notesMasters/notesMaster1.xml" Id="Rcad543765e9440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4189499f9f457e" /><Relationship Type="http://schemas.openxmlformats.org/officeDocument/2006/relationships/notesMaster" Target="/ppt/notesMasters/notesMaster1.xml" Id="R0add335b310243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5c2b8a21a343d9" /><Relationship Type="http://schemas.openxmlformats.org/officeDocument/2006/relationships/notesMaster" Target="/ppt/notesMasters/notesMaster1.xml" Id="R44a1bf5e322f4e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46c37cd1aa47bb" /><Relationship Type="http://schemas.openxmlformats.org/officeDocument/2006/relationships/notesMaster" Target="/ppt/notesMasters/notesMaster1.xml" Id="R6b6758b49c4a4f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973005b67a4fe5" /><Relationship Type="http://schemas.openxmlformats.org/officeDocument/2006/relationships/notesMaster" Target="/ppt/notesMasters/notesMaster1.xml" Id="R74dfcb88bfb642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a design manager with previous engineering experience. Two connected Android flows implemented in the sample app. Human inputs were designs, project context, constraints and approval. PoC evidence: 1 October 2026. Report revision: 8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task time: detail 1h 30m 54s, search 1h 11m 39s, total 2h 42m 33s. Figures are rounded on the slide. Includes planning, implementation, builds and QA. Excludes session gaps, unrecorded human preparation/review, existing design/UI-kit creation and this report. Three working days is the developer estimate. These figures do not establish a measured productivity 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 includes promotion terms, quantities and totals, one-time/repeatable gifts, local product/gift/cart sheets, sort/filter and two/three columns. Shopping state is shared with search. Screenshot evidence: docs/images/paragon-fair. Source: docs/ParagonFairDemo.md.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Search includes Hadiah Gratis and Tebus Murah results, native editing and scope suggestions, local loading/empty/error/retry states, general-search handoff and website intent. Query and shopping state restore after process recreation. Screenshot evidence: docs/images/promo-search. Source: docs/PromoSearchDemo.md.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Timings are implemented PoC choices rather than verified Figma motion specifications. Existing kit stepper behavior is reused. Progress and feedback cancel or retarget active animations so the latest state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search pending time is a fixture delay, not an animation or a production performance result. Back preserves shopping state. Long tap also opens demo scenario selection; quantity controls do not repeat on hold. With animator scale zero, custom motion and the loading spinner are disabled.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Checks recorded on 1 October 2026: debug build, app unit tests and lint completed. 14 tests passed, including 10 PoC state tests. Lint: 0 errors and 293 warnings. Pixel 4 API29 emulator widths: 320, 360, approximately 393 and 600 dp portrait. Includes 200% text, reduced motion and app process restart. Screen-reader labels were inspected in the UI structure. Live TalkBack/Switch Access remains outstanding. App checks were not rerun for the report 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GPT-6.1 Sol is the developer-stated model for prototyping. A temporary subsidy is developer-reported, with its exact rate and expiry unverified. The official pricing page identifies a promotion for GPT-5.6 Sol, which does not establish a GPT-6.1 Sol subsidy. No project cost or savings are calculated. Sources: https://learn.chatgpt.com/docs/pricing and https://developers.openai.com/api/docs/models/gpt-6.1-sol (checked 7 October 2026). Original control sizes and touch areas remain. Accessibility labels are screen-reader descriptions. Production follow-up: business rules, live accessibility, more devices and measured animation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fbc8c4736e49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fa107fef054897" /><Relationship Type="http://schemas.openxmlformats.org/officeDocument/2006/relationships/slideLayout" Target="/ppt/slideLayouts/slideLayout1.xml" Id="Rc0ff324024274a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ff324024274a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aa3640f6d34957" /><Relationship Type="http://schemas.openxmlformats.org/officeDocument/2006/relationships/image" Target="/ppt/media/image.png" Id="R679d08aa499741e4" /><Relationship Type="http://schemas.openxmlformats.org/officeDocument/2006/relationships/image" Target="/ppt/media/image2.png" Id="R675a7de9ed0c4a82" /><Relationship Type="http://schemas.openxmlformats.org/officeDocument/2006/relationships/notesSlide" Target="/ppt/notesSlides/notesSlide1.xml" Id="R62a89df1373c43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68594a7f5b465e" /><Relationship Type="http://schemas.openxmlformats.org/officeDocument/2006/relationships/notesSlide" Target="/ppt/notesSlides/notesSlide2.xml" Id="R9ec75b5c1bbf4f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12dc67c41b45b4" /><Relationship Type="http://schemas.openxmlformats.org/officeDocument/2006/relationships/image" Target="/ppt/media/image3.png" Id="Ra5f92c8d3ebf4b84" /><Relationship Type="http://schemas.openxmlformats.org/officeDocument/2006/relationships/image" Target="/ppt/media/image4.png" Id="R041ec08d926c4e7a" /><Relationship Type="http://schemas.openxmlformats.org/officeDocument/2006/relationships/notesSlide" Target="/ppt/notesSlides/notesSlide3.xml" Id="Rc704280160864f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b3635ace9a41ef" /><Relationship Type="http://schemas.openxmlformats.org/officeDocument/2006/relationships/image" Target="/ppt/media/image5.png" Id="R11757ac96def4804" /><Relationship Type="http://schemas.openxmlformats.org/officeDocument/2006/relationships/image" Target="/ppt/media/image6.png" Id="Reb628817055146ba" /><Relationship Type="http://schemas.openxmlformats.org/officeDocument/2006/relationships/image" Target="/ppt/media/image7.png" Id="R8f50499a99044f53" /><Relationship Type="http://schemas.openxmlformats.org/officeDocument/2006/relationships/image" Target="/ppt/media/image8.png" Id="R1c82cf6e315a4bce" /><Relationship Type="http://schemas.openxmlformats.org/officeDocument/2006/relationships/notesSlide" Target="/ppt/notesSlides/notesSlide4.xml" Id="Rdf10593d4b8c43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f66d93257745e4" /><Relationship Type="http://schemas.openxmlformats.org/officeDocument/2006/relationships/notesSlide" Target="/ppt/notesSlides/notesSlide5.xml" Id="R099b7bc5895044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ffa492a34d46a5" /><Relationship Type="http://schemas.openxmlformats.org/officeDocument/2006/relationships/notesSlide" Target="/ppt/notesSlides/notesSlide6.xml" Id="R54837bda530b44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4f04bfc45b46c8" /><Relationship Type="http://schemas.openxmlformats.org/officeDocument/2006/relationships/image" Target="/ppt/media/image9.png" Id="Rb964763752934cae" /><Relationship Type="http://schemas.openxmlformats.org/officeDocument/2006/relationships/image" Target="/ppt/media/image10.png" Id="R0248272934ef40dc" /><Relationship Type="http://schemas.openxmlformats.org/officeDocument/2006/relationships/notesSlide" Target="/ppt/notesSlides/notesSlide7.xml" Id="R376a1305da9f44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b173e0519042c6" /><Relationship Type="http://schemas.openxmlformats.org/officeDocument/2006/relationships/notesSlide" Target="/ppt/notesSlides/notesSlide8.xml" Id="R32a6ceda368d495b" /></Relationships>
</file>

<file path=ppt/slides/slide1.xml><?xml version="1.0" encoding="utf-8"?>
<p:sld xmlns:p="http://schemas.openxmlformats.org/presentationml/2006/main">
  <p:cSld>
    <p:bg>
      <p:bgPr>
        <a:solidFill xmlns:a="http://schemas.openxmlformats.org/drawingml/2006/main">
          <a:srgbClr val="19191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036A8B-DC61-4E01-874F-D365FF4ABEE8}"/>
              </a:ext>
            </a:extLst>
          </p:cNvPr>
          <p:cNvSpPr>
            <a:spLocks xmlns:a="http://schemas.openxmlformats.org/drawingml/2006/main" noGrp="1"/>
          </p:cNvSpPr>
          <p:nvPr/>
        </p:nvSpPr>
        <p:spPr>
          <a:xfrm xmlns:a="http://schemas.openxmlformats.org/drawingml/2006/main">
            <a:off x="17611725" y="0"/>
            <a:ext cx="0" cy="10287000"/>
          </a:xfrm>
          <a:prstGeom xmlns:a="http://schemas.openxmlformats.org/drawingml/2006/main" prst="line">
            <a:avLst/>
          </a:prstGeom>
          <a:noFill xmlns:a="http://schemas.openxmlformats.org/drawingml/2006/main"/>
          <a:ln xmlns:a="http://schemas.openxmlformats.org/drawingml/2006/main" w="9525">
            <a:solidFill>
              <a:srgbClr val="777777"/>
            </a:solidFill>
          </a:ln>
        </p:spPr>
      </p:sp>
      <p:sp>
        <p:nvSpPr>
          <p:cNvPr id="2" name="01">
            <a:extLst xmlns:a="http://schemas.openxmlformats.org/drawingml/2006/main">
              <a:ext uri="{FF2B5EF4-FFF2-40B4-BE49-F238E27FC236}">
                <a16:creationId xmlns:a16="http://schemas.microsoft.com/office/drawing/2014/main" id="{CB1A40D4-6888-49F3-8FFE-3899750FAC74}"/>
              </a:ext>
            </a:extLst>
          </p:cNvPr>
          <p:cNvSpPr>
            <a:spLocks xmlns:a="http://schemas.openxmlformats.org/drawingml/2006/main" noGrp="1"/>
          </p:cNvSpPr>
          <p:nvPr/>
        </p:nvSpPr>
        <p:spPr>
          <a:xfrm xmlns:a="http://schemas.openxmlformats.org/drawingml/2006/main">
            <a:off x="17754600" y="95250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01</a:t>
            </a:r>
          </a:p>
        </p:txBody>
      </p:sp>
      <p:sp>
        <p:nvSpPr>
          <p:cNvPr id="3" name="EDTS  /  POC REPORT  /  2026">
            <a:extLst xmlns:a="http://schemas.openxmlformats.org/drawingml/2006/main">
              <a:ext uri="{FF2B5EF4-FFF2-40B4-BE49-F238E27FC236}">
                <a16:creationId xmlns:a16="http://schemas.microsoft.com/office/drawing/2014/main" id="{77BF6461-F0A8-42E6-BCCA-FDF9BFBE720C}"/>
              </a:ext>
            </a:extLst>
          </p:cNvPr>
          <p:cNvSpPr>
            <a:spLocks xmlns:a="http://schemas.openxmlformats.org/drawingml/2006/main" noGrp="1"/>
          </p:cNvSpPr>
          <p:nvPr/>
        </p:nvSpPr>
        <p:spPr>
          <a:xfrm xmlns:a="http://schemas.openxmlformats.org/drawingml/2006/main" rot="16200000">
            <a:off x="15525750" y="59721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500" b="0">
                <a:solidFill>
                  <a:srgbClr val="FFFFFF"/>
                </a:solidFill>
                <a:latin typeface="Courier New"/>
                <a:ea typeface="Courier New"/>
                <a:cs typeface="Courier New"/>
              </a:defRPr>
            </a:pPr>
            <a:r>
              <a:rPr sz="1500" b="0">
                <a:solidFill>
                  <a:srgbClr val="FFFFFF"/>
                </a:solidFill>
                <a:latin typeface="Courier New"/>
                <a:ea typeface="Courier New"/>
                <a:cs typeface="Courier New"/>
              </a:rPr>
              <a:t>EDTS  /  POC REPORT  /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9d08aa499741e4"/>
          <a:stretch xmlns:a="http://schemas.openxmlformats.org/drawingml/2006/main"/>
        </p:blipFill>
        <p:spPr>
          <a:xfrm xmlns:a="http://schemas.openxmlformats.org/drawingml/2006/main">
            <a:off x="9563100" y="0"/>
            <a:ext cx="8048625" cy="102870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75a7de9ed0c4a82"/>
          <a:stretch xmlns:a="http://schemas.openxmlformats.org/drawingml/2006/main"/>
        </p:blipFill>
        <p:spPr>
          <a:xfrm xmlns:a="http://schemas.openxmlformats.org/drawingml/2006/main">
            <a:off x="17745075" y="457200"/>
            <a:ext cx="314325" cy="476250"/>
          </a:xfrm>
          <a:prstGeom xmlns:a="http://schemas.openxmlformats.org/drawingml/2006/main" prst="rect">
            <a:avLst/>
          </a:prstGeom>
        </p:spPr>
      </p:pic>
      <p:sp>
        <p:nvSpPr>
          <p:cNvPr id="6" name="ENGINEERING MANAGEMENT REPORT">
            <a:extLst xmlns:a="http://schemas.openxmlformats.org/drawingml/2006/main">
              <a:ext uri="{FF2B5EF4-FFF2-40B4-BE49-F238E27FC236}">
                <a16:creationId xmlns:a16="http://schemas.microsoft.com/office/drawing/2014/main" id="{E90CAD24-F51D-4BE3-B383-D8D3EEDA6DE8}"/>
              </a:ext>
            </a:extLst>
          </p:cNvPr>
          <p:cNvSpPr>
            <a:spLocks xmlns:a="http://schemas.openxmlformats.org/drawingml/2006/main" noGrp="1"/>
          </p:cNvSpPr>
          <p:nvPr/>
        </p:nvSpPr>
        <p:spPr>
          <a:xfrm xmlns:a="http://schemas.openxmlformats.org/drawingml/2006/main">
            <a:off x="1143000" y="523875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ANDROID PROOF OF CONCEPT</a:t>
            </a:r>
          </a:p>
        </p:txBody>
      </p:sp>
      <p:sp>
        <p:nvSpPr>
          <p:cNvPr id="7" name="AI implementation&#10;of two Android flows">
            <a:extLst xmlns:a="http://schemas.openxmlformats.org/drawingml/2006/main">
              <a:ext uri="{FF2B5EF4-FFF2-40B4-BE49-F238E27FC236}">
                <a16:creationId xmlns:a16="http://schemas.microsoft.com/office/drawing/2014/main" id="{9D70B335-AE53-42D7-8D87-0CA5538B2EC5}"/>
              </a:ext>
            </a:extLst>
          </p:cNvPr>
          <p:cNvSpPr>
            <a:spLocks xmlns:a="http://schemas.openxmlformats.org/drawingml/2006/main" noGrp="1"/>
          </p:cNvSpPr>
          <p:nvPr/>
        </p:nvSpPr>
        <p:spPr>
          <a:xfrm xmlns:a="http://schemas.openxmlformats.org/drawingml/2006/main">
            <a:off x="1143000" y="5905500"/>
            <a:ext cx="15240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8250" b="0">
                <a:solidFill>
                  <a:srgbClr val="FFFFFF"/>
                </a:solidFill>
                <a:latin typeface="Helvetica Neue"/>
                <a:ea typeface="Helvetica Neue"/>
                <a:cs typeface="Helvetica Neue"/>
              </a:defRPr>
            </a:pPr>
            <a:r>
              <a:rPr sz="8250" b="0">
                <a:solidFill>
                  <a:srgbClr val="FFFFFF"/>
                </a:solidFill>
                <a:latin typeface="Helvetica Neue"/>
                <a:ea typeface="Helvetica Neue"/>
                <a:cs typeface="Helvetica Neue"/>
              </a:rPr>
              <a:t>AI implementation</a:t>
            </a:r>
          </a:p>
          <a:p xmlns:a="http://schemas.openxmlformats.org/drawingml/2006/main">
            <a:pPr>
              <a:buNone/>
              <a:defRPr sz="8250" b="0">
                <a:solidFill>
                  <a:srgbClr val="FFFFFF"/>
                </a:solidFill>
                <a:latin typeface="Helvetica Neue"/>
                <a:ea typeface="Helvetica Neue"/>
                <a:cs typeface="Helvetica Neue"/>
              </a:defRPr>
            </a:pPr>
            <a:r>
              <a:rPr sz="8250" b="0">
                <a:solidFill>
                  <a:srgbClr val="FFFFFF"/>
                </a:solidFill>
                <a:latin typeface="Helvetica Neue"/>
                <a:ea typeface="Helvetica Neue"/>
                <a:cs typeface="Helvetica Neue"/>
              </a:rPr>
              <a:t>of two Android flows</a:t>
            </a:r>
          </a:p>
        </p:txBody>
      </p:sp>
      <p:sp>
        <p:nvSpPr>
          <p:cNvPr id="8" name="Promotion detail and search  /  1 October 2026">
            <a:extLst xmlns:a="http://schemas.openxmlformats.org/drawingml/2006/main">
              <a:ext uri="{FF2B5EF4-FFF2-40B4-BE49-F238E27FC236}">
                <a16:creationId xmlns:a16="http://schemas.microsoft.com/office/drawing/2014/main" id="{3D2D4325-B54B-490D-AC32-A3E714B7341B}"/>
              </a:ext>
            </a:extLst>
          </p:cNvPr>
          <p:cNvSpPr>
            <a:spLocks xmlns:a="http://schemas.openxmlformats.org/drawingml/2006/main" noGrp="1"/>
          </p:cNvSpPr>
          <p:nvPr/>
        </p:nvSpPr>
        <p:spPr>
          <a:xfrm xmlns:a="http://schemas.openxmlformats.org/drawingml/2006/main">
            <a:off x="1143000" y="9048750"/>
            <a:ext cx="1524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FFFFFF"/>
                </a:solidFill>
                <a:latin typeface="Helvetica Neue"/>
                <a:ea typeface="Helvetica Neue"/>
                <a:cs typeface="Helvetica Neue"/>
              </a:defRPr>
            </a:pPr>
            <a:r>
              <a:rPr sz="2625" b="0">
                <a:solidFill>
                  <a:srgbClr val="FFFFFF"/>
                </a:solidFill>
                <a:latin typeface="Helvetica Neue"/>
                <a:ea typeface="Helvetica Neue"/>
                <a:cs typeface="Helvetica Neue"/>
              </a:rPr>
              <a:t>Promotion detail and search  /  8 October 2026</a:t>
            </a:r>
          </a:p>
        </p:txBody>
      </p:sp>
    </p:spTree>
    <p:extLst>
      <p:ext uri="{BB962C8B-B14F-4D97-AF65-F5344CB8AC3E}">
        <p14:creationId xmlns:p14="http://schemas.microsoft.com/office/powerpoint/2010/main" val="7735841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D8777B-7FCD-4232-A2C8-4144F28DEC41}"/>
              </a:ext>
            </a:extLst>
          </p:cNvPr>
          <p:cNvSpPr>
            <a:spLocks xmlns:a="http://schemas.openxmlformats.org/drawingml/2006/main" noGrp="1"/>
          </p:cNvSpPr>
          <p:nvPr/>
        </p:nvSpPr>
        <p:spPr>
          <a:xfrm xmlns:a="http://schemas.openxmlformats.org/drawingml/2006/main">
            <a:off x="17611725" y="0"/>
            <a:ext cx="0" cy="10287000"/>
          </a:xfrm>
          <a:prstGeom xmlns:a="http://schemas.openxmlformats.org/drawingml/2006/main" prst="line">
            <a:avLst/>
          </a:prstGeom>
          <a:noFill xmlns:a="http://schemas.openxmlformats.org/drawingml/2006/main"/>
          <a:ln xmlns:a="http://schemas.openxmlformats.org/drawingml/2006/main" w="9525">
            <a:solidFill>
              <a:srgbClr val="999999"/>
            </a:solidFill>
          </a:ln>
        </p:spPr>
      </p:sp>
      <p:sp>
        <p:nvSpPr>
          <p:cNvPr id="2" name="03">
            <a:extLst xmlns:a="http://schemas.openxmlformats.org/drawingml/2006/main">
              <a:ext uri="{FF2B5EF4-FFF2-40B4-BE49-F238E27FC236}">
                <a16:creationId xmlns:a16="http://schemas.microsoft.com/office/drawing/2014/main" id="{5C813890-8D7A-4B65-A640-A2248FC6B926}"/>
              </a:ext>
            </a:extLst>
          </p:cNvPr>
          <p:cNvSpPr>
            <a:spLocks xmlns:a="http://schemas.openxmlformats.org/drawingml/2006/main" noGrp="1"/>
          </p:cNvSpPr>
          <p:nvPr/>
        </p:nvSpPr>
        <p:spPr>
          <a:xfrm xmlns:a="http://schemas.openxmlformats.org/drawingml/2006/main">
            <a:off x="17754600" y="95250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02</a:t>
            </a:r>
          </a:p>
        </p:txBody>
      </p:sp>
      <p:sp>
        <p:nvSpPr>
          <p:cNvPr id="3" name="EDTS  /  POC REPORT  /  2026">
            <a:extLst xmlns:a="http://schemas.openxmlformats.org/drawingml/2006/main">
              <a:ext uri="{FF2B5EF4-FFF2-40B4-BE49-F238E27FC236}">
                <a16:creationId xmlns:a16="http://schemas.microsoft.com/office/drawing/2014/main" id="{31DFA1D3-8137-41A2-85F2-D617F2D7EEB5}"/>
              </a:ext>
            </a:extLst>
          </p:cNvPr>
          <p:cNvSpPr>
            <a:spLocks xmlns:a="http://schemas.openxmlformats.org/drawingml/2006/main" noGrp="1"/>
          </p:cNvSpPr>
          <p:nvPr/>
        </p:nvSpPr>
        <p:spPr>
          <a:xfrm xmlns:a="http://schemas.openxmlformats.org/drawingml/2006/main" rot="16200000">
            <a:off x="15525750" y="59721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500" b="0">
                <a:solidFill>
                  <a:srgbClr val="191819"/>
                </a:solidFill>
                <a:latin typeface="Courier New"/>
                <a:ea typeface="Courier New"/>
                <a:cs typeface="Courier New"/>
              </a:defRPr>
            </a:pPr>
            <a:r>
              <a:rPr sz="1500" b="0">
                <a:solidFill>
                  <a:srgbClr val="191819"/>
                </a:solidFill>
                <a:latin typeface="Courier New"/>
                <a:ea typeface="Courier New"/>
                <a:cs typeface="Courier New"/>
              </a:rPr>
              <a:t>EDTS  /  POC REPORT  /  2026</a:t>
            </a:r>
          </a:p>
        </p:txBody>
      </p:sp>
      <p:sp>
        <p:nvSpPr>
          <p:cNvPr id="4" name="RECORDED TASK HISTORY">
            <a:extLst xmlns:a="http://schemas.openxmlformats.org/drawingml/2006/main">
              <a:ext uri="{FF2B5EF4-FFF2-40B4-BE49-F238E27FC236}">
                <a16:creationId xmlns:a16="http://schemas.microsoft.com/office/drawing/2014/main" id="{ABC3993A-DA14-4B3F-A81E-EA72B041E6C7}"/>
              </a:ext>
            </a:extLst>
          </p:cNvPr>
          <p:cNvSpPr>
            <a:spLocks xmlns:a="http://schemas.openxmlformats.org/drawingml/2006/main" noGrp="1"/>
          </p:cNvSpPr>
          <p:nvPr/>
        </p:nvSpPr>
        <p:spPr>
          <a:xfrm xmlns:a="http://schemas.openxmlformats.org/drawingml/2006/main">
            <a:off x="1143000" y="914400"/>
            <a:ext cx="1524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TIME COMPARISON</a:t>
            </a:r>
          </a:p>
        </p:txBody>
      </p:sp>
      <p:sp>
        <p:nvSpPr>
          <p:cNvPr id="5" name="Time across the two flows">
            <a:extLst xmlns:a="http://schemas.openxmlformats.org/drawingml/2006/main">
              <a:ext uri="{FF2B5EF4-FFF2-40B4-BE49-F238E27FC236}">
                <a16:creationId xmlns:a16="http://schemas.microsoft.com/office/drawing/2014/main" id="{83211656-25E3-4895-A5E7-6254BC0D5551}"/>
              </a:ext>
            </a:extLst>
          </p:cNvPr>
          <p:cNvSpPr>
            <a:spLocks xmlns:a="http://schemas.openxmlformats.org/drawingml/2006/main" noGrp="1"/>
          </p:cNvSpPr>
          <p:nvPr/>
        </p:nvSpPr>
        <p:spPr>
          <a:xfrm xmlns:a="http://schemas.openxmlformats.org/drawingml/2006/main">
            <a:off x="1143000" y="144780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0">
                <a:solidFill>
                  <a:srgbClr val="191819"/>
                </a:solidFill>
                <a:latin typeface="Helvetica Neue"/>
                <a:ea typeface="Helvetica Neue"/>
                <a:cs typeface="Helvetica Neue"/>
              </a:defRPr>
            </a:pPr>
            <a:r>
              <a:rPr sz="6000" b="0">
                <a:solidFill>
                  <a:srgbClr val="191819"/>
                </a:solidFill>
                <a:latin typeface="Helvetica Neue"/>
                <a:ea typeface="Helvetica Neue"/>
                <a:cs typeface="Helvetica Neue"/>
              </a:rPr>
              <a:t>Time across the two flows</a:t>
            </a:r>
          </a:p>
        </p:txBody>
      </p:sp>
      <p:graphicFrame>
        <p:nvGraphicFramePr>
          <p:cNvPr id="16" name=""/>
          <p:cNvGraphicFramePr/>
          <p:nvPr/>
        </p:nvGraphicFramePr>
        <p:xfrm>
          <a:off xmlns:a="http://schemas.openxmlformats.org/drawingml/2006/main" x="1143000" y="3238500"/>
          <a:ext xmlns:a="http://schemas.openxmlformats.org/drawingml/2006/main" cx="15621000" cy="3886200"/>
        </p:xfrm>
        <a:graphic xmlns:a="http://schemas.openxmlformats.org/drawingml/2006/main">
          <a:graphicData uri="http://schemas.openxmlformats.org/drawingml/2006/table">
            <a:tbl>
              <a:tblPr firstRow="1" bandRow="0"/>
              <a:tblGrid>
                <a:gridCol w="8001000"/>
                <a:gridCol w="7620000"/>
              </a:tblGrid>
              <a:tr h="971550">
                <a:tc>
                  <a:txBody>
                    <a:bodyPr wrap="square" lIns="152400" tIns="114300" rIns="152400" bIns="114300">
                      <a:noAutofit/>
                    </a:bodyPr>
                    <a:lstStyle/>
                    <a:p>
                      <a:r>
                        <a:rPr sz="2550" b="1">
                          <a:solidFill>
                            <a:srgbClr val="FFFFFF"/>
                          </a:solidFill>
                          <a:latin typeface="Helvetica Neue"/>
                          <a:ea typeface="Helvetica Neue"/>
                          <a:cs typeface="Helvetica Neue"/>
                        </a:rPr>
                        <a:t>Flow</a:t>
                      </a:r>
                    </a:p>
                  </a:txBody>
                  <a:tcPr marL="91440" marR="91440" marT="45720" marB="45720" anchor="ctr">
                    <a:solidFill>
                      <a:srgbClr val="191819"/>
                    </a:solidFill>
                  </a:tcPr>
                </a:tc>
                <a:tc>
                  <a:txBody>
                    <a:bodyPr wrap="square" lIns="152400" tIns="114300" rIns="152400" bIns="114300">
                      <a:noAutofit/>
                    </a:bodyPr>
                    <a:lstStyle/>
                    <a:p>
                      <a:r>
                        <a:rPr sz="2550" b="1">
                          <a:solidFill>
                            <a:srgbClr val="FFFFFF"/>
                          </a:solidFill>
                          <a:latin typeface="Helvetica Neue"/>
                          <a:ea typeface="Helvetica Neue"/>
                          <a:cs typeface="Helvetica Neue"/>
                        </a:rPr>
                        <a:t>Recorded AI task time</a:t>
                      </a:r>
                    </a:p>
                  </a:txBody>
                  <a:tcPr marL="91440" marR="91440" marT="45720" marB="45720" anchor="ctr">
                    <a:solidFill>
                      <a:srgbClr val="191819"/>
                    </a:solidFill>
                  </a:tcPr>
                </a:tc>
              </a:tr>
              <a:tr h="971550">
                <a:tc>
                  <a:txBody>
                    <a:bodyPr wrap="square" lIns="152400" tIns="114300" rIns="152400" bIns="114300">
                      <a:noAutofit/>
                    </a:bodyPr>
                    <a:lstStyle/>
                    <a:p>
                      <a:r>
                        <a:rPr sz="2550" b="0">
                          <a:solidFill>
                            <a:srgbClr val="191819"/>
                          </a:solidFill>
                          <a:latin typeface="Helvetica Neue"/>
                          <a:ea typeface="Helvetica Neue"/>
                          <a:cs typeface="Helvetica Neue"/>
                        </a:rPr>
                        <a:t>Promotion detail</a:t>
                      </a:r>
                    </a:p>
                  </a:txBody>
                  <a:tcPr marL="91440" marR="91440" marT="45720" marB="45720" anchor="ctr">
                    <a:solidFill>
                      <a:srgbClr val="FFFFFF"/>
                    </a:solidFill>
                  </a:tcPr>
                </a:tc>
                <a:tc>
                  <a:txBody>
                    <a:bodyPr wrap="square" lIns="152400" tIns="114300" rIns="152400" bIns="114300">
                      <a:noAutofit/>
                    </a:bodyPr>
                    <a:lstStyle/>
                    <a:p>
                      <a:r>
                        <a:rPr sz="2550" b="0">
                          <a:solidFill>
                            <a:srgbClr val="191819"/>
                          </a:solidFill>
                          <a:latin typeface="Helvetica Neue"/>
                          <a:ea typeface="Helvetica Neue"/>
                          <a:cs typeface="Helvetica Neue"/>
                        </a:rPr>
                        <a:t>Approximately 1h 31m</a:t>
                      </a:r>
                    </a:p>
                  </a:txBody>
                  <a:tcPr marL="91440" marR="91440" marT="45720" marB="45720" anchor="ctr">
                    <a:solidFill>
                      <a:srgbClr val="FFFFFF"/>
                    </a:solidFill>
                  </a:tcPr>
                </a:tc>
              </a:tr>
              <a:tr h="971550">
                <a:tc>
                  <a:txBody>
                    <a:bodyPr wrap="square" lIns="152400" tIns="114300" rIns="152400" bIns="114300">
                      <a:noAutofit/>
                    </a:bodyPr>
                    <a:lstStyle/>
                    <a:p>
                      <a:r>
                        <a:rPr sz="2550" b="0">
                          <a:solidFill>
                            <a:srgbClr val="191819"/>
                          </a:solidFill>
                          <a:latin typeface="Helvetica Neue"/>
                          <a:ea typeface="Helvetica Neue"/>
                          <a:cs typeface="Helvetica Neue"/>
                        </a:rPr>
                        <a:t>Promotion search</a:t>
                      </a:r>
                    </a:p>
                  </a:txBody>
                  <a:tcPr marL="91440" marR="91440" marT="45720" marB="45720" anchor="ctr">
                    <a:solidFill>
                      <a:srgbClr val="FFFFFF"/>
                    </a:solidFill>
                  </a:tcPr>
                </a:tc>
                <a:tc>
                  <a:txBody>
                    <a:bodyPr wrap="square" lIns="152400" tIns="114300" rIns="152400" bIns="114300">
                      <a:noAutofit/>
                    </a:bodyPr>
                    <a:lstStyle/>
                    <a:p>
                      <a:r>
                        <a:rPr sz="2550" b="0">
                          <a:solidFill>
                            <a:srgbClr val="191819"/>
                          </a:solidFill>
                          <a:latin typeface="Helvetica Neue"/>
                          <a:ea typeface="Helvetica Neue"/>
                          <a:cs typeface="Helvetica Neue"/>
                        </a:rPr>
                        <a:t>Approximately 1h 12m</a:t>
                      </a:r>
                    </a:p>
                  </a:txBody>
                  <a:tcPr marL="91440" marR="91440" marT="45720" marB="45720" anchor="ctr">
                    <a:solidFill>
                      <a:srgbClr val="FFFFFF"/>
                    </a:solidFill>
                  </a:tcPr>
                </a:tc>
              </a:tr>
              <a:tr h="971550">
                <a:tc>
                  <a:txBody>
                    <a:bodyPr wrap="square" lIns="152400" tIns="114300" rIns="152400" bIns="114300">
                      <a:noAutofit/>
                    </a:bodyPr>
                    <a:lstStyle/>
                    <a:p>
                      <a:r>
                        <a:rPr sz="2550" b="0">
                          <a:solidFill>
                            <a:srgbClr val="191819"/>
                          </a:solidFill>
                          <a:latin typeface="Helvetica Neue"/>
                          <a:ea typeface="Helvetica Neue"/>
                          <a:cs typeface="Helvetica Neue"/>
                        </a:rPr>
                        <a:t>Combined</a:t>
                      </a:r>
                    </a:p>
                  </a:txBody>
                  <a:tcPr marL="91440" marR="91440" marT="45720" marB="45720" anchor="ctr">
                    <a:solidFill>
                      <a:srgbClr val="FFFFFF"/>
                    </a:solidFill>
                  </a:tcPr>
                </a:tc>
                <a:tc>
                  <a:txBody>
                    <a:bodyPr wrap="square" lIns="152400" tIns="114300" rIns="152400" bIns="114300">
                      <a:noAutofit/>
                    </a:bodyPr>
                    <a:lstStyle/>
                    <a:p>
                      <a:r>
                        <a:rPr sz="2550" b="0">
                          <a:solidFill>
                            <a:srgbClr val="191819"/>
                          </a:solidFill>
                          <a:latin typeface="Helvetica Neue"/>
                          <a:ea typeface="Helvetica Neue"/>
                          <a:cs typeface="Helvetica Neue"/>
                        </a:rPr>
                        <a:t>Approximately 2h 43m</a:t>
                      </a:r>
                    </a:p>
                  </a:txBody>
                  <a:tcPr marL="91440" marR="91440" marT="45720" marB="45720" anchor="ctr">
                    <a:solidFill>
                      <a:srgbClr val="FFFFFF"/>
                    </a:solidFill>
                  </a:tcPr>
                </a:tc>
              </a:tr>
            </a:tbl>
          </a:graphicData>
        </a:graphic>
      </p:graphicFrame>
      <p:sp>
        <p:nvSpPr>
          <p:cNvPr id="7" name="Includes design inspection, code, builds, emulator checks and re">
            <a:extLst xmlns:a="http://schemas.openxmlformats.org/drawingml/2006/main">
              <a:ext uri="{FF2B5EF4-FFF2-40B4-BE49-F238E27FC236}">
                <a16:creationId xmlns:a16="http://schemas.microsoft.com/office/drawing/2014/main" id="{FE5917E3-CD86-497B-84E5-8238E7A622D3}"/>
              </a:ext>
            </a:extLst>
          </p:cNvPr>
          <p:cNvSpPr>
            <a:spLocks xmlns:a="http://schemas.openxmlformats.org/drawingml/2006/main" noGrp="1"/>
          </p:cNvSpPr>
          <p:nvPr/>
        </p:nvSpPr>
        <p:spPr>
          <a:xfrm xmlns:a="http://schemas.openxmlformats.org/drawingml/2006/main">
            <a:off x="1143000" y="7791450"/>
            <a:ext cx="1571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0">
                <a:solidFill>
                  <a:srgbClr val="191819"/>
                </a:solidFill>
                <a:latin typeface="Helvetica Neue"/>
                <a:ea typeface="Helvetica Neue"/>
                <a:cs typeface="Helvetica Neue"/>
              </a:defRPr>
            </a:pPr>
            <a:r>
              <a:rPr sz="3150" b="0">
                <a:solidFill>
                  <a:srgbClr val="191819"/>
                </a:solidFill>
                <a:latin typeface="Helvetica Neue"/>
                <a:ea typeface="Helvetica Neue"/>
                <a:cs typeface="Helvetica Neue"/>
              </a:rPr>
              <a:t>Traditional estimate: approximately three working days, supplied by the developer.</a:t>
            </a:r>
          </a:p>
        </p:txBody>
      </p:sp>
      <p:sp>
        <p:nvSpPr>
          <p:cNvPr id="8" name="Excludes session gaps, unmeasured human review, existing design/">
            <a:extLst xmlns:a="http://schemas.openxmlformats.org/drawingml/2006/main">
              <a:ext uri="{FF2B5EF4-FFF2-40B4-BE49-F238E27FC236}">
                <a16:creationId xmlns:a16="http://schemas.microsoft.com/office/drawing/2014/main" id="{2AB8022B-78E1-4971-9C1D-322BC93B9706}"/>
              </a:ext>
            </a:extLst>
          </p:cNvPr>
          <p:cNvSpPr>
            <a:spLocks xmlns:a="http://schemas.openxmlformats.org/drawingml/2006/main" noGrp="1"/>
          </p:cNvSpPr>
          <p:nvPr/>
        </p:nvSpPr>
        <p:spPr>
          <a:xfrm xmlns:a="http://schemas.openxmlformats.org/drawingml/2006/main">
            <a:off x="1143000" y="8886825"/>
            <a:ext cx="1571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606060"/>
                </a:solidFill>
                <a:latin typeface="Helvetica Neue"/>
                <a:ea typeface="Helvetica Neue"/>
                <a:cs typeface="Helvetica Neue"/>
              </a:defRPr>
            </a:pPr>
            <a:r>
              <a:rPr sz="2325" b="0">
                <a:solidFill>
                  <a:srgbClr val="606060"/>
                </a:solidFill>
                <a:latin typeface="Helvetica Neue"/>
                <a:ea typeface="Helvetica Neue"/>
                <a:cs typeface="Helvetica Neue"/>
              </a:rPr>
              <a:t>AI time includes planning, builds and QA. Human preparation/review and existing design work are excluded.</a:t>
            </a:r>
          </a:p>
        </p:txBody>
      </p:sp>
    </p:spTree>
    <p:extLst>
      <p:ext uri="{BB962C8B-B14F-4D97-AF65-F5344CB8AC3E}">
        <p14:creationId xmlns:p14="http://schemas.microsoft.com/office/powerpoint/2010/main" val="10293938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3D92E4-5BEA-466F-86FA-AEE5F5A385EF}"/>
              </a:ext>
            </a:extLst>
          </p:cNvPr>
          <p:cNvSpPr>
            <a:spLocks xmlns:a="http://schemas.openxmlformats.org/drawingml/2006/main" noGrp="1"/>
          </p:cNvSpPr>
          <p:nvPr/>
        </p:nvSpPr>
        <p:spPr>
          <a:xfrm xmlns:a="http://schemas.openxmlformats.org/drawingml/2006/main">
            <a:off x="17611725" y="0"/>
            <a:ext cx="0" cy="10287000"/>
          </a:xfrm>
          <a:prstGeom xmlns:a="http://schemas.openxmlformats.org/drawingml/2006/main" prst="line">
            <a:avLst/>
          </a:prstGeom>
          <a:noFill xmlns:a="http://schemas.openxmlformats.org/drawingml/2006/main"/>
          <a:ln xmlns:a="http://schemas.openxmlformats.org/drawingml/2006/main" w="9525">
            <a:solidFill>
              <a:srgbClr val="999999"/>
            </a:solidFill>
          </a:ln>
        </p:spPr>
      </p:sp>
      <p:sp>
        <p:nvSpPr>
          <p:cNvPr id="2" name="05">
            <a:extLst xmlns:a="http://schemas.openxmlformats.org/drawingml/2006/main">
              <a:ext uri="{FF2B5EF4-FFF2-40B4-BE49-F238E27FC236}">
                <a16:creationId xmlns:a16="http://schemas.microsoft.com/office/drawing/2014/main" id="{8DF427CD-31E5-48D1-8712-4BC5283D12D9}"/>
              </a:ext>
            </a:extLst>
          </p:cNvPr>
          <p:cNvSpPr>
            <a:spLocks xmlns:a="http://schemas.openxmlformats.org/drawingml/2006/main" noGrp="1"/>
          </p:cNvSpPr>
          <p:nvPr/>
        </p:nvSpPr>
        <p:spPr>
          <a:xfrm xmlns:a="http://schemas.openxmlformats.org/drawingml/2006/main">
            <a:off x="17754600" y="95250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03</a:t>
            </a:r>
          </a:p>
        </p:txBody>
      </p:sp>
      <p:sp>
        <p:nvSpPr>
          <p:cNvPr id="3" name="EDTS  /  POC REPORT  /  2026">
            <a:extLst xmlns:a="http://schemas.openxmlformats.org/drawingml/2006/main">
              <a:ext uri="{FF2B5EF4-FFF2-40B4-BE49-F238E27FC236}">
                <a16:creationId xmlns:a16="http://schemas.microsoft.com/office/drawing/2014/main" id="{5C102F7C-2289-4574-A7E2-E5E9C4584150}"/>
              </a:ext>
            </a:extLst>
          </p:cNvPr>
          <p:cNvSpPr>
            <a:spLocks xmlns:a="http://schemas.openxmlformats.org/drawingml/2006/main" noGrp="1"/>
          </p:cNvSpPr>
          <p:nvPr/>
        </p:nvSpPr>
        <p:spPr>
          <a:xfrm xmlns:a="http://schemas.openxmlformats.org/drawingml/2006/main" rot="16200000">
            <a:off x="15525750" y="59721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500" b="0">
                <a:solidFill>
                  <a:srgbClr val="191819"/>
                </a:solidFill>
                <a:latin typeface="Courier New"/>
                <a:ea typeface="Courier New"/>
                <a:cs typeface="Courier New"/>
              </a:defRPr>
            </a:pPr>
            <a:r>
              <a:rPr sz="1500" b="0">
                <a:solidFill>
                  <a:srgbClr val="191819"/>
                </a:solidFill>
                <a:latin typeface="Courier New"/>
                <a:ea typeface="Courier New"/>
                <a:cs typeface="Courier New"/>
              </a:rPr>
              <a:t>EDTS  /  POC REPORT  /  2026</a:t>
            </a:r>
          </a:p>
        </p:txBody>
      </p:sp>
      <p:sp>
        <p:nvSpPr>
          <p:cNvPr id="4" name="FLOW 1">
            <a:extLst xmlns:a="http://schemas.openxmlformats.org/drawingml/2006/main">
              <a:ext uri="{FF2B5EF4-FFF2-40B4-BE49-F238E27FC236}">
                <a16:creationId xmlns:a16="http://schemas.microsoft.com/office/drawing/2014/main" id="{F24E373A-8B25-4A06-83A4-0E35E06394C5}"/>
              </a:ext>
            </a:extLst>
          </p:cNvPr>
          <p:cNvSpPr>
            <a:spLocks xmlns:a="http://schemas.openxmlformats.org/drawingml/2006/main" noGrp="1"/>
          </p:cNvSpPr>
          <p:nvPr/>
        </p:nvSpPr>
        <p:spPr>
          <a:xfrm xmlns:a="http://schemas.openxmlformats.org/drawingml/2006/main">
            <a:off x="1143000" y="914400"/>
            <a:ext cx="1524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FLOW 1</a:t>
            </a:r>
          </a:p>
        </p:txBody>
      </p:sp>
      <p:sp>
        <p:nvSpPr>
          <p:cNvPr id="5" name="Promotion detail">
            <a:extLst xmlns:a="http://schemas.openxmlformats.org/drawingml/2006/main">
              <a:ext uri="{FF2B5EF4-FFF2-40B4-BE49-F238E27FC236}">
                <a16:creationId xmlns:a16="http://schemas.microsoft.com/office/drawing/2014/main" id="{9CA72A9D-CA3A-4385-9B9F-C65BB788B55D}"/>
              </a:ext>
            </a:extLst>
          </p:cNvPr>
          <p:cNvSpPr>
            <a:spLocks xmlns:a="http://schemas.openxmlformats.org/drawingml/2006/main" noGrp="1"/>
          </p:cNvSpPr>
          <p:nvPr/>
        </p:nvSpPr>
        <p:spPr>
          <a:xfrm xmlns:a="http://schemas.openxmlformats.org/drawingml/2006/main">
            <a:off x="1143000" y="144780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0">
                <a:solidFill>
                  <a:srgbClr val="191819"/>
                </a:solidFill>
                <a:latin typeface="Helvetica Neue"/>
                <a:ea typeface="Helvetica Neue"/>
                <a:cs typeface="Helvetica Neue"/>
              </a:defRPr>
            </a:pPr>
            <a:r>
              <a:rPr sz="6000" b="0">
                <a:solidFill>
                  <a:srgbClr val="191819"/>
                </a:solidFill>
                <a:latin typeface="Helvetica Neue"/>
                <a:ea typeface="Helvetica Neue"/>
                <a:cs typeface="Helvetica Neue"/>
              </a:rPr>
              <a:t>Promotion detail</a:t>
            </a:r>
          </a:p>
        </p:txBody>
      </p:sp>
      <p:sp>
        <p:nvSpPr>
          <p:cNvPr id="6" name="Shared shopping state">
            <a:extLst xmlns:a="http://schemas.openxmlformats.org/drawingml/2006/main">
              <a:ext uri="{FF2B5EF4-FFF2-40B4-BE49-F238E27FC236}">
                <a16:creationId xmlns:a16="http://schemas.microsoft.com/office/drawing/2014/main" id="{28BE67FA-E765-4221-B33A-E2B6BAD0BE4D}"/>
              </a:ext>
            </a:extLst>
          </p:cNvPr>
          <p:cNvSpPr>
            <a:spLocks xmlns:a="http://schemas.openxmlformats.org/drawingml/2006/main" noGrp="1"/>
          </p:cNvSpPr>
          <p:nvPr/>
        </p:nvSpPr>
        <p:spPr>
          <a:xfrm xmlns:a="http://schemas.openxmlformats.org/drawingml/2006/main">
            <a:off x="1143000" y="32575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525" b="1">
                <a:solidFill>
                  <a:srgbClr val="191819"/>
                </a:solidFill>
                <a:latin typeface="Helvetica Neue"/>
                <a:ea typeface="Helvetica Neue"/>
                <a:cs typeface="Helvetica Neue"/>
              </a:defRPr>
            </a:pPr>
            <a:r>
              <a:rPr sz="3525" b="1">
                <a:solidFill>
                  <a:srgbClr val="191819"/>
                </a:solidFill>
                <a:latin typeface="Helvetica Neue"/>
                <a:ea typeface="Helvetica Neue"/>
                <a:cs typeface="Helvetica Neue"/>
              </a:rPr>
              <a:t>Shopping and rewards</a:t>
            </a:r>
          </a:p>
        </p:txBody>
      </p:sp>
      <p:sp>
        <p:nvSpPr>
          <p:cNvPr id="7" name="Quantities update totals&#10;and reward eligibility.&#10;&#10;Gift selection">
            <a:extLst xmlns:a="http://schemas.openxmlformats.org/drawingml/2006/main">
              <a:ext uri="{FF2B5EF4-FFF2-40B4-BE49-F238E27FC236}">
                <a16:creationId xmlns:a16="http://schemas.microsoft.com/office/drawing/2014/main" id="{90A4C08F-39DD-42EC-B1CD-DA9CD0CDD540}"/>
              </a:ext>
            </a:extLst>
          </p:cNvPr>
          <p:cNvSpPr>
            <a:spLocks xmlns:a="http://schemas.openxmlformats.org/drawingml/2006/main" noGrp="1"/>
          </p:cNvSpPr>
          <p:nvPr/>
        </p:nvSpPr>
        <p:spPr>
          <a:xfrm xmlns:a="http://schemas.openxmlformats.org/drawingml/2006/main">
            <a:off x="1143000" y="4095750"/>
            <a:ext cx="533400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Quantities update totals</a:t>
            </a:r>
          </a:p>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and reward eligibility.</a:t>
            </a:r>
          </a:p>
          <a:p xmlns:a="http://schemas.openxmlformats.org/drawingml/2006/main">
            <a:r>
              <a:t/>
            </a:r>
          </a:p>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Gift selection supports</a:t>
            </a:r>
          </a:p>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one-time and repeat rewards.</a:t>
            </a:r>
          </a:p>
          <a:p xmlns:a="http://schemas.openxmlformats.org/drawingml/2006/main">
            <a:r>
              <a:t/>
            </a:r>
          </a:p>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Scroll shows a compact</a:t>
            </a:r>
          </a:p>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progress summary.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5f92c8d3ebf4b84"/>
          <a:stretch xmlns:a="http://schemas.openxmlformats.org/drawingml/2006/main"/>
        </p:blipFill>
        <p:spPr>
          <a:xfrm xmlns:a="http://schemas.openxmlformats.org/drawingml/2006/main">
            <a:off x="7797967" y="2724150"/>
            <a:ext cx="2977816" cy="6286500"/>
          </a:xfrm>
          <a:prstGeom xmlns:a="http://schemas.openxmlformats.org/drawingml/2006/main" prst="rect">
            <a:avLst/>
          </a:prstGeom>
        </p:spPr>
      </p:pic>
      <p:sp>
        <p:nvSpPr>
          <p:cNvPr id="9" name="Initial detail and reward preview">
            <a:extLst xmlns:a="http://schemas.openxmlformats.org/drawingml/2006/main">
              <a:ext uri="{FF2B5EF4-FFF2-40B4-BE49-F238E27FC236}">
                <a16:creationId xmlns:a16="http://schemas.microsoft.com/office/drawing/2014/main" id="{0C711255-5712-4172-96AB-ED57E041FF6A}"/>
              </a:ext>
            </a:extLst>
          </p:cNvPr>
          <p:cNvSpPr>
            <a:spLocks xmlns:a="http://schemas.openxmlformats.org/drawingml/2006/main" noGrp="1"/>
          </p:cNvSpPr>
          <p:nvPr/>
        </p:nvSpPr>
        <p:spPr>
          <a:xfrm xmlns:a="http://schemas.openxmlformats.org/drawingml/2006/main">
            <a:off x="7239000" y="9124950"/>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91819"/>
                </a:solidFill>
                <a:latin typeface="Helvetica Neue"/>
                <a:ea typeface="Helvetica Neue"/>
                <a:cs typeface="Helvetica Neue"/>
              </a:defRPr>
            </a:pPr>
            <a:r>
              <a:rPr sz="2100" b="0">
                <a:solidFill>
                  <a:srgbClr val="191819"/>
                </a:solidFill>
                <a:latin typeface="Helvetica Neue"/>
                <a:ea typeface="Helvetica Neue"/>
                <a:cs typeface="Helvetica Neue"/>
              </a:rPr>
              <a:t>Initial detail and reward preview</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41ec08d926c4e7a"/>
          <a:stretch xmlns:a="http://schemas.openxmlformats.org/drawingml/2006/main"/>
        </p:blipFill>
        <p:spPr>
          <a:xfrm xmlns:a="http://schemas.openxmlformats.org/drawingml/2006/main">
            <a:off x="12750967" y="2724150"/>
            <a:ext cx="2977816" cy="6286500"/>
          </a:xfrm>
          <a:prstGeom xmlns:a="http://schemas.openxmlformats.org/drawingml/2006/main" prst="rect">
            <a:avLst/>
          </a:prstGeom>
        </p:spPr>
      </p:pic>
      <p:sp>
        <p:nvSpPr>
          <p:cNvPr id="11" name="Compact summary and three columns">
            <a:extLst xmlns:a="http://schemas.openxmlformats.org/drawingml/2006/main">
              <a:ext uri="{FF2B5EF4-FFF2-40B4-BE49-F238E27FC236}">
                <a16:creationId xmlns:a16="http://schemas.microsoft.com/office/drawing/2014/main" id="{9673EAD6-479D-4C28-BAD4-E9D4E0D66D79}"/>
              </a:ext>
            </a:extLst>
          </p:cNvPr>
          <p:cNvSpPr>
            <a:spLocks xmlns:a="http://schemas.openxmlformats.org/drawingml/2006/main" noGrp="1"/>
          </p:cNvSpPr>
          <p:nvPr/>
        </p:nvSpPr>
        <p:spPr>
          <a:xfrm xmlns:a="http://schemas.openxmlformats.org/drawingml/2006/main">
            <a:off x="12192000" y="9124950"/>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91819"/>
                </a:solidFill>
                <a:latin typeface="Helvetica Neue"/>
                <a:ea typeface="Helvetica Neue"/>
                <a:cs typeface="Helvetica Neue"/>
              </a:defRPr>
            </a:pPr>
            <a:r>
              <a:rPr sz="2100" b="0">
                <a:solidFill>
                  <a:srgbClr val="191819"/>
                </a:solidFill>
                <a:latin typeface="Helvetica Neue"/>
                <a:ea typeface="Helvetica Neue"/>
                <a:cs typeface="Helvetica Neue"/>
              </a:rPr>
              <a:t>Compact summary and three columns</a:t>
            </a:r>
          </a:p>
        </p:txBody>
      </p:sp>
    </p:spTree>
    <p:extLst>
      <p:ext uri="{BB962C8B-B14F-4D97-AF65-F5344CB8AC3E}">
        <p14:creationId xmlns:p14="http://schemas.microsoft.com/office/powerpoint/2010/main" val="3963326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5181086-D745-4266-B7EC-ADAE7FE8B264}"/>
              </a:ext>
            </a:extLst>
          </p:cNvPr>
          <p:cNvSpPr>
            <a:spLocks xmlns:a="http://schemas.openxmlformats.org/drawingml/2006/main" noGrp="1"/>
          </p:cNvSpPr>
          <p:nvPr/>
        </p:nvSpPr>
        <p:spPr>
          <a:xfrm xmlns:a="http://schemas.openxmlformats.org/drawingml/2006/main">
            <a:off x="17611725" y="0"/>
            <a:ext cx="0" cy="10287000"/>
          </a:xfrm>
          <a:prstGeom xmlns:a="http://schemas.openxmlformats.org/drawingml/2006/main" prst="line">
            <a:avLst/>
          </a:prstGeom>
          <a:noFill xmlns:a="http://schemas.openxmlformats.org/drawingml/2006/main"/>
          <a:ln xmlns:a="http://schemas.openxmlformats.org/drawingml/2006/main" w="9525">
            <a:solidFill>
              <a:srgbClr val="999999"/>
            </a:solidFill>
          </a:ln>
        </p:spPr>
      </p:sp>
      <p:sp>
        <p:nvSpPr>
          <p:cNvPr id="2" name="06">
            <a:extLst xmlns:a="http://schemas.openxmlformats.org/drawingml/2006/main">
              <a:ext uri="{FF2B5EF4-FFF2-40B4-BE49-F238E27FC236}">
                <a16:creationId xmlns:a16="http://schemas.microsoft.com/office/drawing/2014/main" id="{D7E2A732-0D9A-4710-95FB-C17316DAEFC4}"/>
              </a:ext>
            </a:extLst>
          </p:cNvPr>
          <p:cNvSpPr>
            <a:spLocks xmlns:a="http://schemas.openxmlformats.org/drawingml/2006/main" noGrp="1"/>
          </p:cNvSpPr>
          <p:nvPr/>
        </p:nvSpPr>
        <p:spPr>
          <a:xfrm xmlns:a="http://schemas.openxmlformats.org/drawingml/2006/main">
            <a:off x="17754600" y="95250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04</a:t>
            </a:r>
          </a:p>
        </p:txBody>
      </p:sp>
      <p:sp>
        <p:nvSpPr>
          <p:cNvPr id="3" name="EDTS  /  POC REPORT  /  2026">
            <a:extLst xmlns:a="http://schemas.openxmlformats.org/drawingml/2006/main">
              <a:ext uri="{FF2B5EF4-FFF2-40B4-BE49-F238E27FC236}">
                <a16:creationId xmlns:a16="http://schemas.microsoft.com/office/drawing/2014/main" id="{6CE72945-5538-4BFF-9105-357819A43D87}"/>
              </a:ext>
            </a:extLst>
          </p:cNvPr>
          <p:cNvSpPr>
            <a:spLocks xmlns:a="http://schemas.openxmlformats.org/drawingml/2006/main" noGrp="1"/>
          </p:cNvSpPr>
          <p:nvPr/>
        </p:nvSpPr>
        <p:spPr>
          <a:xfrm xmlns:a="http://schemas.openxmlformats.org/drawingml/2006/main" rot="16200000">
            <a:off x="15525750" y="59721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500" b="0">
                <a:solidFill>
                  <a:srgbClr val="191819"/>
                </a:solidFill>
                <a:latin typeface="Courier New"/>
                <a:ea typeface="Courier New"/>
                <a:cs typeface="Courier New"/>
              </a:defRPr>
            </a:pPr>
            <a:r>
              <a:rPr sz="1500" b="0">
                <a:solidFill>
                  <a:srgbClr val="191819"/>
                </a:solidFill>
                <a:latin typeface="Courier New"/>
                <a:ea typeface="Courier New"/>
                <a:cs typeface="Courier New"/>
              </a:rPr>
              <a:t>EDTS  /  POC REPORT  /  2026</a:t>
            </a:r>
          </a:p>
        </p:txBody>
      </p:sp>
      <p:sp>
        <p:nvSpPr>
          <p:cNvPr id="4" name="FLOW 2">
            <a:extLst xmlns:a="http://schemas.openxmlformats.org/drawingml/2006/main">
              <a:ext uri="{FF2B5EF4-FFF2-40B4-BE49-F238E27FC236}">
                <a16:creationId xmlns:a16="http://schemas.microsoft.com/office/drawing/2014/main" id="{BDD62A31-1FA0-4BED-B335-F1BEF0AB8B57}"/>
              </a:ext>
            </a:extLst>
          </p:cNvPr>
          <p:cNvSpPr>
            <a:spLocks xmlns:a="http://schemas.openxmlformats.org/drawingml/2006/main" noGrp="1"/>
          </p:cNvSpPr>
          <p:nvPr/>
        </p:nvSpPr>
        <p:spPr>
          <a:xfrm xmlns:a="http://schemas.openxmlformats.org/drawingml/2006/main">
            <a:off x="1143000" y="914400"/>
            <a:ext cx="1524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FLOW 2</a:t>
            </a:r>
          </a:p>
        </p:txBody>
      </p:sp>
      <p:sp>
        <p:nvSpPr>
          <p:cNvPr id="5" name="Promotion search">
            <a:extLst xmlns:a="http://schemas.openxmlformats.org/drawingml/2006/main">
              <a:ext uri="{FF2B5EF4-FFF2-40B4-BE49-F238E27FC236}">
                <a16:creationId xmlns:a16="http://schemas.microsoft.com/office/drawing/2014/main" id="{CB2C469E-FBFB-4F70-A011-8171DF653ECA}"/>
              </a:ext>
            </a:extLst>
          </p:cNvPr>
          <p:cNvSpPr>
            <a:spLocks xmlns:a="http://schemas.openxmlformats.org/drawingml/2006/main" noGrp="1"/>
          </p:cNvSpPr>
          <p:nvPr/>
        </p:nvSpPr>
        <p:spPr>
          <a:xfrm xmlns:a="http://schemas.openxmlformats.org/drawingml/2006/main">
            <a:off x="1143000" y="144780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0">
                <a:solidFill>
                  <a:srgbClr val="191819"/>
                </a:solidFill>
                <a:latin typeface="Helvetica Neue"/>
                <a:ea typeface="Helvetica Neue"/>
                <a:cs typeface="Helvetica Neue"/>
              </a:defRPr>
            </a:pPr>
            <a:r>
              <a:rPr sz="6000" b="0">
                <a:solidFill>
                  <a:srgbClr val="191819"/>
                </a:solidFill>
                <a:latin typeface="Helvetica Neue"/>
                <a:ea typeface="Helvetica Neue"/>
                <a:cs typeface="Helvetica Neue"/>
              </a:rPr>
              <a:t>Promotion search</a:t>
            </a:r>
          </a:p>
        </p:txBody>
      </p:sp>
      <p:sp>
        <p:nvSpPr>
          <p:cNvPr id="6" name="Native editing and promotion scope keep the cart intact across q">
            <a:extLst xmlns:a="http://schemas.openxmlformats.org/drawingml/2006/main">
              <a:ext uri="{FF2B5EF4-FFF2-40B4-BE49-F238E27FC236}">
                <a16:creationId xmlns:a16="http://schemas.microsoft.com/office/drawing/2014/main" id="{AEB3E746-8C99-4FB4-AC9A-22DDA4BE7632}"/>
              </a:ext>
            </a:extLst>
          </p:cNvPr>
          <p:cNvSpPr>
            <a:spLocks xmlns:a="http://schemas.openxmlformats.org/drawingml/2006/main" noGrp="1"/>
          </p:cNvSpPr>
          <p:nvPr/>
        </p:nvSpPr>
        <p:spPr>
          <a:xfrm xmlns:a="http://schemas.openxmlformats.org/drawingml/2006/main">
            <a:off x="1143000" y="2524125"/>
            <a:ext cx="1552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Scoped results, empty states and retry; cart and reward state persist across queries.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1757ac96def4804"/>
          <a:stretch xmlns:a="http://schemas.openxmlformats.org/drawingml/2006/main"/>
        </p:blipFill>
        <p:spPr>
          <a:xfrm xmlns:a="http://schemas.openxmlformats.org/drawingml/2006/main">
            <a:off x="1593056" y="3381375"/>
            <a:ext cx="2528888" cy="5619750"/>
          </a:xfrm>
          <a:prstGeom xmlns:a="http://schemas.openxmlformats.org/drawingml/2006/main" prst="rect">
            <a:avLst/>
          </a:prstGeom>
        </p:spPr>
      </p:pic>
      <p:sp>
        <p:nvSpPr>
          <p:cNvPr id="8" name="Scope suggestions">
            <a:extLst xmlns:a="http://schemas.openxmlformats.org/drawingml/2006/main">
              <a:ext uri="{FF2B5EF4-FFF2-40B4-BE49-F238E27FC236}">
                <a16:creationId xmlns:a16="http://schemas.microsoft.com/office/drawing/2014/main" id="{D94BD52C-FC50-4CEF-A5B0-ED9370792E84}"/>
              </a:ext>
            </a:extLst>
          </p:cNvPr>
          <p:cNvSpPr>
            <a:spLocks xmlns:a="http://schemas.openxmlformats.org/drawingml/2006/main" noGrp="1"/>
          </p:cNvSpPr>
          <p:nvPr/>
        </p:nvSpPr>
        <p:spPr>
          <a:xfrm xmlns:a="http://schemas.openxmlformats.org/drawingml/2006/main">
            <a:off x="1143000" y="9115425"/>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91819"/>
                </a:solidFill>
                <a:latin typeface="Helvetica Neue"/>
                <a:ea typeface="Helvetica Neue"/>
                <a:cs typeface="Helvetica Neue"/>
              </a:defRPr>
            </a:pPr>
            <a:r>
              <a:rPr sz="2100" b="0">
                <a:solidFill>
                  <a:srgbClr val="191819"/>
                </a:solidFill>
                <a:latin typeface="Helvetica Neue"/>
                <a:ea typeface="Helvetica Neue"/>
                <a:cs typeface="Helvetica Neue"/>
              </a:rPr>
              <a:t>Scope suggestions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b628817055146ba"/>
          <a:stretch xmlns:a="http://schemas.openxmlformats.org/drawingml/2006/main"/>
        </p:blipFill>
        <p:spPr>
          <a:xfrm xmlns:a="http://schemas.openxmlformats.org/drawingml/2006/main">
            <a:off x="5631656" y="3381375"/>
            <a:ext cx="2528888" cy="5619750"/>
          </a:xfrm>
          <a:prstGeom xmlns:a="http://schemas.openxmlformats.org/drawingml/2006/main" prst="rect">
            <a:avLst/>
          </a:prstGeom>
        </p:spPr>
      </p:pic>
      <p:sp>
        <p:nvSpPr>
          <p:cNvPr id="10" name="Two Kahf results">
            <a:extLst xmlns:a="http://schemas.openxmlformats.org/drawingml/2006/main">
              <a:ext uri="{FF2B5EF4-FFF2-40B4-BE49-F238E27FC236}">
                <a16:creationId xmlns:a16="http://schemas.microsoft.com/office/drawing/2014/main" id="{014BF9CD-E436-4C4A-AD13-23148446A33E}"/>
              </a:ext>
            </a:extLst>
          </p:cNvPr>
          <p:cNvSpPr>
            <a:spLocks xmlns:a="http://schemas.openxmlformats.org/drawingml/2006/main" noGrp="1"/>
          </p:cNvSpPr>
          <p:nvPr/>
        </p:nvSpPr>
        <p:spPr>
          <a:xfrm xmlns:a="http://schemas.openxmlformats.org/drawingml/2006/main">
            <a:off x="5181600" y="9115425"/>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91819"/>
                </a:solidFill>
                <a:latin typeface="Helvetica Neue"/>
                <a:ea typeface="Helvetica Neue"/>
                <a:cs typeface="Helvetica Neue"/>
              </a:defRPr>
            </a:pPr>
            <a:r>
              <a:rPr sz="2100" b="0">
                <a:solidFill>
                  <a:srgbClr val="191819"/>
                </a:solidFill>
                <a:latin typeface="Helvetica Neue"/>
                <a:ea typeface="Helvetica Neue"/>
                <a:cs typeface="Helvetica Neue"/>
              </a:rPr>
              <a:t>Two Kahf results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f50499a99044f53"/>
          <a:stretch xmlns:a="http://schemas.openxmlformats.org/drawingml/2006/main"/>
        </p:blipFill>
        <p:spPr>
          <a:xfrm xmlns:a="http://schemas.openxmlformats.org/drawingml/2006/main">
            <a:off x="9670256" y="3381375"/>
            <a:ext cx="2528888" cy="5619750"/>
          </a:xfrm>
          <a:prstGeom xmlns:a="http://schemas.openxmlformats.org/drawingml/2006/main" prst="rect">
            <a:avLst/>
          </a:prstGeom>
        </p:spPr>
      </p:pic>
      <p:sp>
        <p:nvSpPr>
          <p:cNvPr id="12" name="Cart and gift eligibility">
            <a:extLst xmlns:a="http://schemas.openxmlformats.org/drawingml/2006/main">
              <a:ext uri="{FF2B5EF4-FFF2-40B4-BE49-F238E27FC236}">
                <a16:creationId xmlns:a16="http://schemas.microsoft.com/office/drawing/2014/main" id="{01CCF3B9-531A-468F-B500-7C87603D586E}"/>
              </a:ext>
            </a:extLst>
          </p:cNvPr>
          <p:cNvSpPr>
            <a:spLocks xmlns:a="http://schemas.openxmlformats.org/drawingml/2006/main" noGrp="1"/>
          </p:cNvSpPr>
          <p:nvPr/>
        </p:nvSpPr>
        <p:spPr>
          <a:xfrm xmlns:a="http://schemas.openxmlformats.org/drawingml/2006/main">
            <a:off x="9220200" y="9115425"/>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91819"/>
                </a:solidFill>
                <a:latin typeface="Helvetica Neue"/>
                <a:ea typeface="Helvetica Neue"/>
                <a:cs typeface="Helvetica Neue"/>
              </a:defRPr>
            </a:pPr>
            <a:r>
              <a:rPr sz="2100" b="0">
                <a:solidFill>
                  <a:srgbClr val="191819"/>
                </a:solidFill>
                <a:latin typeface="Helvetica Neue"/>
                <a:ea typeface="Helvetica Neue"/>
                <a:cs typeface="Helvetica Neue"/>
              </a:rPr>
              <a:t>Cart and gift eligibility</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c82cf6e315a4bce"/>
          <a:stretch xmlns:a="http://schemas.openxmlformats.org/drawingml/2006/main"/>
        </p:blipFill>
        <p:spPr>
          <a:xfrm xmlns:a="http://schemas.openxmlformats.org/drawingml/2006/main">
            <a:off x="13708856" y="3381375"/>
            <a:ext cx="2528888" cy="5619750"/>
          </a:xfrm>
          <a:prstGeom xmlns:a="http://schemas.openxmlformats.org/drawingml/2006/main" prst="rect">
            <a:avLst/>
          </a:prstGeom>
        </p:spPr>
      </p:pic>
      <p:sp>
        <p:nvSpPr>
          <p:cNvPr id="14" name="Four Tebus Murah results">
            <a:extLst xmlns:a="http://schemas.openxmlformats.org/drawingml/2006/main">
              <a:ext uri="{FF2B5EF4-FFF2-40B4-BE49-F238E27FC236}">
                <a16:creationId xmlns:a16="http://schemas.microsoft.com/office/drawing/2014/main" id="{84BFA7AB-7CFE-4575-AC21-DA269220ACAA}"/>
              </a:ext>
            </a:extLst>
          </p:cNvPr>
          <p:cNvSpPr>
            <a:spLocks xmlns:a="http://schemas.openxmlformats.org/drawingml/2006/main" noGrp="1"/>
          </p:cNvSpPr>
          <p:nvPr/>
        </p:nvSpPr>
        <p:spPr>
          <a:xfrm xmlns:a="http://schemas.openxmlformats.org/drawingml/2006/main">
            <a:off x="13258800" y="9115425"/>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91819"/>
                </a:solidFill>
                <a:latin typeface="Helvetica Neue"/>
                <a:ea typeface="Helvetica Neue"/>
                <a:cs typeface="Helvetica Neue"/>
              </a:defRPr>
            </a:pPr>
            <a:r>
              <a:rPr sz="2100" b="0">
                <a:solidFill>
                  <a:srgbClr val="191819"/>
                </a:solidFill>
                <a:latin typeface="Helvetica Neue"/>
                <a:ea typeface="Helvetica Neue"/>
                <a:cs typeface="Helvetica Neue"/>
              </a:rPr>
              <a:t>Four Tebus Murah results</a:t>
            </a:r>
          </a:p>
        </p:txBody>
      </p:sp>
    </p:spTree>
    <p:extLst>
      <p:ext uri="{BB962C8B-B14F-4D97-AF65-F5344CB8AC3E}">
        <p14:creationId xmlns:p14="http://schemas.microsoft.com/office/powerpoint/2010/main" val="17048703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2A96F2-E35C-4207-A0AD-726CAA581C37}"/>
              </a:ext>
            </a:extLst>
          </p:cNvPr>
          <p:cNvSpPr>
            <a:spLocks xmlns:a="http://schemas.openxmlformats.org/drawingml/2006/main" noGrp="1"/>
          </p:cNvSpPr>
          <p:nvPr/>
        </p:nvSpPr>
        <p:spPr>
          <a:xfrm xmlns:a="http://schemas.openxmlformats.org/drawingml/2006/main">
            <a:off x="17611725" y="0"/>
            <a:ext cx="0" cy="10287000"/>
          </a:xfrm>
          <a:prstGeom xmlns:a="http://schemas.openxmlformats.org/drawingml/2006/main" prst="line">
            <a:avLst/>
          </a:prstGeom>
          <a:noFill xmlns:a="http://schemas.openxmlformats.org/drawingml/2006/main"/>
          <a:ln xmlns:a="http://schemas.openxmlformats.org/drawingml/2006/main" w="9525">
            <a:solidFill>
              <a:srgbClr val="999999"/>
            </a:solidFill>
          </a:ln>
        </p:spPr>
      </p:sp>
      <p:sp>
        <p:nvSpPr>
          <p:cNvPr id="2" name="10">
            <a:extLst xmlns:a="http://schemas.openxmlformats.org/drawingml/2006/main">
              <a:ext uri="{FF2B5EF4-FFF2-40B4-BE49-F238E27FC236}">
                <a16:creationId xmlns:a16="http://schemas.microsoft.com/office/drawing/2014/main" id="{614FA06C-35B3-4B4F-94C7-D45D0F95F529}"/>
              </a:ext>
            </a:extLst>
          </p:cNvPr>
          <p:cNvSpPr>
            <a:spLocks xmlns:a="http://schemas.openxmlformats.org/drawingml/2006/main" noGrp="1"/>
          </p:cNvSpPr>
          <p:nvPr/>
        </p:nvSpPr>
        <p:spPr>
          <a:xfrm xmlns:a="http://schemas.openxmlformats.org/drawingml/2006/main">
            <a:off x="17754600" y="95250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05</a:t>
            </a:r>
          </a:p>
        </p:txBody>
      </p:sp>
      <p:sp>
        <p:nvSpPr>
          <p:cNvPr id="3" name="EDTS  /  POC REPORT  /  2026">
            <a:extLst xmlns:a="http://schemas.openxmlformats.org/drawingml/2006/main">
              <a:ext uri="{FF2B5EF4-FFF2-40B4-BE49-F238E27FC236}">
                <a16:creationId xmlns:a16="http://schemas.microsoft.com/office/drawing/2014/main" id="{1AC2C8ED-CFB9-4147-903F-4BD3C8252B93}"/>
              </a:ext>
            </a:extLst>
          </p:cNvPr>
          <p:cNvSpPr>
            <a:spLocks xmlns:a="http://schemas.openxmlformats.org/drawingml/2006/main" noGrp="1"/>
          </p:cNvSpPr>
          <p:nvPr/>
        </p:nvSpPr>
        <p:spPr>
          <a:xfrm xmlns:a="http://schemas.openxmlformats.org/drawingml/2006/main" rot="16200000">
            <a:off x="15525750" y="59721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500" b="0">
                <a:solidFill>
                  <a:srgbClr val="191819"/>
                </a:solidFill>
                <a:latin typeface="Courier New"/>
                <a:ea typeface="Courier New"/>
                <a:cs typeface="Courier New"/>
              </a:defRPr>
            </a:pPr>
            <a:r>
              <a:rPr sz="1500" b="0">
                <a:solidFill>
                  <a:srgbClr val="191819"/>
                </a:solidFill>
                <a:latin typeface="Courier New"/>
                <a:ea typeface="Courier New"/>
                <a:cs typeface="Courier New"/>
              </a:rPr>
              <a:t>EDTS  /  POC REPORT  /  2026</a:t>
            </a:r>
          </a:p>
        </p:txBody>
      </p:sp>
      <p:sp>
        <p:nvSpPr>
          <p:cNvPr id="4" name="MOTION SPECIFICATION">
            <a:extLst xmlns:a="http://schemas.openxmlformats.org/drawingml/2006/main">
              <a:ext uri="{FF2B5EF4-FFF2-40B4-BE49-F238E27FC236}">
                <a16:creationId xmlns:a16="http://schemas.microsoft.com/office/drawing/2014/main" id="{21ED4301-982B-471B-9F2C-AAE35D50E488}"/>
              </a:ext>
            </a:extLst>
          </p:cNvPr>
          <p:cNvSpPr>
            <a:spLocks xmlns:a="http://schemas.openxmlformats.org/drawingml/2006/main" noGrp="1"/>
          </p:cNvSpPr>
          <p:nvPr/>
        </p:nvSpPr>
        <p:spPr>
          <a:xfrm xmlns:a="http://schemas.openxmlformats.org/drawingml/2006/main">
            <a:off x="1143000" y="914400"/>
            <a:ext cx="1524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MOTION DETAILS</a:t>
            </a:r>
          </a:p>
        </p:txBody>
      </p:sp>
      <p:sp>
        <p:nvSpPr>
          <p:cNvPr id="5" name="Quantity, rewards and cart">
            <a:extLst xmlns:a="http://schemas.openxmlformats.org/drawingml/2006/main">
              <a:ext uri="{FF2B5EF4-FFF2-40B4-BE49-F238E27FC236}">
                <a16:creationId xmlns:a16="http://schemas.microsoft.com/office/drawing/2014/main" id="{9B117F3B-567B-45AA-806C-97E7A5574683}"/>
              </a:ext>
            </a:extLst>
          </p:cNvPr>
          <p:cNvSpPr>
            <a:spLocks xmlns:a="http://schemas.openxmlformats.org/drawingml/2006/main" noGrp="1"/>
          </p:cNvSpPr>
          <p:nvPr/>
        </p:nvSpPr>
        <p:spPr>
          <a:xfrm xmlns:a="http://schemas.openxmlformats.org/drawingml/2006/main">
            <a:off x="1143000" y="144780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0">
                <a:solidFill>
                  <a:srgbClr val="191819"/>
                </a:solidFill>
                <a:latin typeface="Helvetica Neue"/>
                <a:ea typeface="Helvetica Neue"/>
                <a:cs typeface="Helvetica Neue"/>
              </a:defRPr>
            </a:pPr>
            <a:r>
              <a:rPr sz="6000" b="0">
                <a:solidFill>
                  <a:srgbClr val="191819"/>
                </a:solidFill>
                <a:latin typeface="Helvetica Neue"/>
                <a:ea typeface="Helvetica Neue"/>
                <a:cs typeface="Helvetica Neue"/>
              </a:rPr>
              <a:t>Quantity, rewards and cart</a:t>
            </a:r>
          </a:p>
        </p:txBody>
      </p:sp>
      <p:graphicFrame>
        <p:nvGraphicFramePr>
          <p:cNvPr id="15" name=""/>
          <p:cNvGraphicFramePr/>
          <p:nvPr/>
        </p:nvGraphicFramePr>
        <p:xfrm>
          <a:off xmlns:a="http://schemas.openxmlformats.org/drawingml/2006/main" x="1143000" y="3048000"/>
          <a:ext xmlns:a="http://schemas.openxmlformats.org/drawingml/2006/main" cx="15621000" cy="5867400"/>
        </p:xfrm>
        <a:graphic xmlns:a="http://schemas.openxmlformats.org/drawingml/2006/main">
          <a:graphicData uri="http://schemas.openxmlformats.org/drawingml/2006/table">
            <a:tbl>
              <a:tblPr firstRow="1" bandRow="0"/>
              <a:tblGrid>
                <a:gridCol w="3857625"/>
                <a:gridCol w="4619625"/>
                <a:gridCol w="7143750"/>
              </a:tblGrid>
              <a:tr h="838200">
                <a:tc>
                  <a:txBody>
                    <a:bodyPr wrap="square" lIns="152400" tIns="114300" rIns="152400" bIns="114300">
                      <a:noAutofit/>
                    </a:bodyPr>
                    <a:lstStyle/>
                    <a:p>
                      <a:r>
                        <a:rPr sz="2175" b="1">
                          <a:solidFill>
                            <a:srgbClr val="FFFFFF"/>
                          </a:solidFill>
                          <a:latin typeface="Helvetica Neue"/>
                          <a:ea typeface="Helvetica Neue"/>
                          <a:cs typeface="Helvetica Neue"/>
                        </a:rPr>
                        <a:t>Trigger</a:t>
                      </a:r>
                    </a:p>
                  </a:txBody>
                  <a:tcPr marL="91440" marR="91440" marT="45720" marB="45720" anchor="ctr">
                    <a:solidFill>
                      <a:srgbClr val="191819"/>
                    </a:solidFill>
                  </a:tcPr>
                </a:tc>
                <a:tc>
                  <a:txBody>
                    <a:bodyPr wrap="square" lIns="152400" tIns="114300" rIns="152400" bIns="114300">
                      <a:noAutofit/>
                    </a:bodyPr>
                    <a:lstStyle/>
                    <a:p>
                      <a:r>
                        <a:rPr sz="2175" b="1">
                          <a:solidFill>
                            <a:srgbClr val="FFFFFF"/>
                          </a:solidFill>
                          <a:latin typeface="Helvetica Neue"/>
                          <a:ea typeface="Helvetica Neue"/>
                          <a:cs typeface="Helvetica Neue"/>
                        </a:rPr>
                        <a:t>Timing</a:t>
                      </a:r>
                    </a:p>
                  </a:txBody>
                  <a:tcPr marL="91440" marR="91440" marT="45720" marB="45720" anchor="ctr">
                    <a:solidFill>
                      <a:srgbClr val="191819"/>
                    </a:solidFill>
                  </a:tcPr>
                </a:tc>
                <a:tc>
                  <a:txBody>
                    <a:bodyPr wrap="square" lIns="152400" tIns="114300" rIns="152400" bIns="114300">
                      <a:noAutofit/>
                    </a:bodyPr>
                    <a:lstStyle/>
                    <a:p>
                      <a:r>
                        <a:rPr sz="2175" b="1">
                          <a:solidFill>
                            <a:srgbClr val="FFFFFF"/>
                          </a:solidFill>
                          <a:latin typeface="Helvetica Neue"/>
                          <a:ea typeface="Helvetica Neue"/>
                          <a:cs typeface="Helvetica Neue"/>
                        </a:rPr>
                        <a:t>Behavior</a:t>
                      </a:r>
                    </a:p>
                  </a:txBody>
                  <a:tcPr marL="91440" marR="91440" marT="45720" marB="45720" anchor="ctr">
                    <a:solidFill>
                      <a:srgbClr val="191819"/>
                    </a:solidFill>
                  </a:tcPr>
                </a:tc>
              </a:tr>
              <a:tr h="838200">
                <a:tc>
                  <a:txBody>
                    <a:bodyPr wrap="square" lIns="152400" tIns="114300" rIns="152400" bIns="114300">
                      <a:noAutofit/>
                    </a:bodyPr>
                    <a:lstStyle/>
                    <a:p>
                      <a:r>
                        <a:rPr sz="2175" b="0">
                          <a:solidFill>
                            <a:srgbClr val="191819"/>
                          </a:solidFill>
                          <a:latin typeface="Helvetica Neue"/>
                          <a:ea typeface="Helvetica Neue"/>
                          <a:cs typeface="Helvetica Neue"/>
                        </a:rPr>
                        <a:t>Quantity zero / positive</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300 ms; width 32–90 dp</a:t>
                      </a:r>
                    </a:p>
                    <a:p>
                      <a:r>
                        <a:rPr sz="2175" b="0">
                          <a:solidFill>
                            <a:srgbClr val="191819"/>
                          </a:solidFill>
                          <a:latin typeface="Helvetica Neue"/>
                          <a:ea typeface="Helvetica Neue"/>
                          <a:cs typeface="Helvetica Neue"/>
                        </a:rPr>
                        <a:t>Internal fades: 150 ms</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Expand or collapse; update quantity immediately</a:t>
                      </a:r>
                    </a:p>
                  </a:txBody>
                  <a:tcPr marL="91440" marR="91440" marT="45720" marB="45720" anchor="ctr">
                    <a:solidFill>
                      <a:srgbClr val="FFFFFF"/>
                    </a:solidFill>
                  </a:tcPr>
                </a:tc>
              </a:tr>
              <a:tr h="838200">
                <a:tc>
                  <a:txBody>
                    <a:bodyPr wrap="square" lIns="152400" tIns="114300" rIns="152400" bIns="114300">
                      <a:noAutofit/>
                    </a:bodyPr>
                    <a:lstStyle/>
                    <a:p>
                      <a:r>
                        <a:rPr sz="2175" b="0">
                          <a:solidFill>
                            <a:srgbClr val="191819"/>
                          </a:solidFill>
                          <a:latin typeface="Helvetica Neue"/>
                          <a:ea typeface="Helvetica Neue"/>
                          <a:cs typeface="Helvetica Neue"/>
                        </a:rPr>
                        <a:t>Qualifying spend changes</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450 ms; cubic easing</a:t>
                      </a:r>
                    </a:p>
                    <a:p>
                      <a:r>
                        <a:rPr sz="2175" b="0">
                          <a:solidFill>
                            <a:srgbClr val="191819"/>
                          </a:solidFill>
                          <a:latin typeface="Helvetica Neue"/>
                          <a:ea typeface="Helvetica Neue"/>
                          <a:cs typeface="Helvetica Neue"/>
                        </a:rPr>
                        <a:t>(0.2, 0.8, 0.2, 1)</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Retarget from displayed progress, including decreases</a:t>
                      </a:r>
                    </a:p>
                  </a:txBody>
                  <a:tcPr marL="91440" marR="91440" marT="45720" marB="45720" anchor="ctr">
                    <a:solidFill>
                      <a:srgbClr val="FFFFFF"/>
                    </a:solidFill>
                  </a:tcPr>
                </a:tc>
              </a:tr>
              <a:tr h="838200">
                <a:tc>
                  <a:txBody>
                    <a:bodyPr wrap="square" lIns="152400" tIns="114300" rIns="152400" bIns="114300">
                      <a:noAutofit/>
                    </a:bodyPr>
                    <a:lstStyle/>
                    <a:p>
                      <a:r>
                        <a:rPr sz="2175" b="0">
                          <a:solidFill>
                            <a:srgbClr val="191819"/>
                          </a:solidFill>
                          <a:latin typeface="Helvetica Neue"/>
                          <a:ea typeface="Helvetica Neue"/>
                          <a:cs typeface="Helvetica Neue"/>
                        </a:rPr>
                        <a:t>Reward message changes</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160 ms fade; 4 dp movement</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Replace message; cancel the previous animation</a:t>
                      </a:r>
                    </a:p>
                  </a:txBody>
                  <a:tcPr marL="91440" marR="91440" marT="45720" marB="45720" anchor="ctr">
                    <a:solidFill>
                      <a:srgbClr val="FFFFFF"/>
                    </a:solidFill>
                  </a:tcPr>
                </a:tc>
              </a:tr>
              <a:tr h="838200">
                <a:tc>
                  <a:txBody>
                    <a:bodyPr wrap="square" lIns="152400" tIns="114300" rIns="152400" bIns="114300">
                      <a:noAutofit/>
                    </a:bodyPr>
                    <a:lstStyle/>
                    <a:p>
                      <a:r>
                        <a:rPr sz="2175" b="0">
                          <a:solidFill>
                            <a:srgbClr val="191819"/>
                          </a:solidFill>
                          <a:latin typeface="Helvetica Neue"/>
                          <a:ea typeface="Helvetica Neue"/>
                          <a:cs typeface="Helvetica Neue"/>
                        </a:rPr>
                        <a:t>Reward preview scrolls away</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Enter: 160 ms / 4 dp</a:t>
                      </a:r>
                    </a:p>
                    <a:p>
                      <a:r>
                        <a:rPr sz="2175" b="0">
                          <a:solidFill>
                            <a:srgbClr val="191819"/>
                          </a:solidFill>
                          <a:latin typeface="Helvetica Neue"/>
                          <a:ea typeface="Helvetica Neue"/>
                          <a:cs typeface="Helvetica Neue"/>
                        </a:rPr>
                        <a:t>Exit: 120 ms</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Show compact summary; threshold buffer prevents flicker</a:t>
                      </a:r>
                    </a:p>
                  </a:txBody>
                  <a:tcPr marL="91440" marR="91440" marT="45720" marB="45720" anchor="ctr">
                    <a:solidFill>
                      <a:srgbClr val="FFFFFF"/>
                    </a:solidFill>
                  </a:tcPr>
                </a:tc>
              </a:tr>
              <a:tr h="838200">
                <a:tc>
                  <a:txBody>
                    <a:bodyPr wrap="square" lIns="152400" tIns="114300" rIns="152400" bIns="114300">
                      <a:noAutofit/>
                    </a:bodyPr>
                    <a:lstStyle/>
                    <a:p>
                      <a:r>
                        <a:rPr sz="2175" b="0">
                          <a:solidFill>
                            <a:srgbClr val="191819"/>
                          </a:solidFill>
                          <a:latin typeface="Helvetica Neue"/>
                          <a:ea typeface="Helvetica Neue"/>
                          <a:cs typeface="Helvetica Neue"/>
                        </a:rPr>
                        <a:t>Cart becomes visible</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240 ms fade; 16 dp movement</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Animate the first appearance</a:t>
                      </a:r>
                    </a:p>
                  </a:txBody>
                  <a:tcPr marL="91440" marR="91440" marT="45720" marB="45720" anchor="ctr">
                    <a:solidFill>
                      <a:srgbClr val="FFFFFF"/>
                    </a:solidFill>
                  </a:tcPr>
                </a:tc>
              </a:tr>
              <a:tr h="838200">
                <a:tc>
                  <a:txBody>
                    <a:bodyPr wrap="square" lIns="152400" tIns="114300" rIns="152400" bIns="114300">
                      <a:noAutofit/>
                    </a:bodyPr>
                    <a:lstStyle/>
                    <a:p>
                      <a:r>
                        <a:rPr sz="2175" b="0">
                          <a:solidFill>
                            <a:srgbClr val="191819"/>
                          </a:solidFill>
                          <a:latin typeface="Helvetica Neue"/>
                          <a:ea typeface="Helvetica Neue"/>
                          <a:cs typeface="Helvetica Neue"/>
                        </a:rPr>
                        <a:t>Quantity changes</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Scale 1 → 1.12 → 1</a:t>
                      </a:r>
                    </a:p>
                    <a:p>
                      <a:r>
                        <a:rPr sz="2175" b="0">
                          <a:solidFill>
                            <a:srgbClr val="191819"/>
                          </a:solidFill>
                          <a:latin typeface="Helvetica Neue"/>
                          <a:ea typeface="Helvetica Neue"/>
                          <a:cs typeface="Helvetica Neue"/>
                        </a:rPr>
                        <a:t>100 ms then 120 ms</a:t>
                      </a:r>
                    </a:p>
                  </a:txBody>
                  <a:tcPr marL="91440" marR="91440" marT="45720" marB="45720" anchor="ctr">
                    <a:solidFill>
                      <a:srgbClr val="FFFFFF"/>
                    </a:solidFill>
                  </a:tcPr>
                </a:tc>
                <a:tc>
                  <a:txBody>
                    <a:bodyPr wrap="square" lIns="152400" tIns="114300" rIns="152400" bIns="114300">
                      <a:noAutofit/>
                    </a:bodyPr>
                    <a:lstStyle/>
                    <a:p>
                      <a:r>
                        <a:rPr sz="2175" b="0">
                          <a:solidFill>
                            <a:srgbClr val="191819"/>
                          </a:solidFill>
                          <a:latin typeface="Helvetica Neue"/>
                          <a:ea typeface="Helvetica Neue"/>
                          <a:cs typeface="Helvetica Neue"/>
                        </a:rPr>
                        <a:t>Pulse the cart icon; replace any active pulse</a:t>
                      </a:r>
                    </a:p>
                  </a:txBody>
                  <a:tcPr marL="91440" marR="91440" marT="45720" marB="45720" anchor="ctr">
                    <a:solidFill>
                      <a:srgbClr val="FFFFFF"/>
                    </a:solidFill>
                  </a:tcPr>
                </a:tc>
              </a:tr>
            </a:tbl>
          </a:graphicData>
        </a:graphic>
      </p:graphicFrame>
      <p:sp>
        <p:nvSpPr>
          <p:cNvPr id="7" name="Motion timings are implemented PoC decisions. Figma returned no ">
            <a:extLst xmlns:a="http://schemas.openxmlformats.org/drawingml/2006/main">
              <a:ext uri="{FF2B5EF4-FFF2-40B4-BE49-F238E27FC236}">
                <a16:creationId xmlns:a16="http://schemas.microsoft.com/office/drawing/2014/main" id="{1348304D-7683-4789-BC02-87572CCA5E93}"/>
              </a:ext>
            </a:extLst>
          </p:cNvPr>
          <p:cNvSpPr>
            <a:spLocks xmlns:a="http://schemas.openxmlformats.org/drawingml/2006/main" noGrp="1"/>
          </p:cNvSpPr>
          <p:nvPr/>
        </p:nvSpPr>
        <p:spPr>
          <a:xfrm xmlns:a="http://schemas.openxmlformats.org/drawingml/2006/main">
            <a:off x="1143000" y="9296400"/>
            <a:ext cx="15716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606060"/>
                </a:solidFill>
                <a:latin typeface="Helvetica Neue"/>
                <a:ea typeface="Helvetica Neue"/>
                <a:cs typeface="Helvetica Neue"/>
              </a:defRPr>
            </a:pPr>
            <a:r>
              <a:rPr sz="2175" b="0">
                <a:solidFill>
                  <a:srgbClr val="606060"/>
                </a:solidFill>
                <a:latin typeface="Helvetica Neue"/>
                <a:ea typeface="Helvetica Neue"/>
                <a:cs typeface="Helvetica Neue"/>
              </a:rPr>
              <a:t>Timings are PoC implementation choices; the inspected Figma sections supplied no motion specification.</a:t>
            </a:r>
          </a:p>
        </p:txBody>
      </p:sp>
    </p:spTree>
    <p:extLst>
      <p:ext uri="{BB962C8B-B14F-4D97-AF65-F5344CB8AC3E}">
        <p14:creationId xmlns:p14="http://schemas.microsoft.com/office/powerpoint/2010/main" val="2060005945"/>
      </p:ext>
    </p:extLst>
  </p:cSld>
</p:sld>
</file>

<file path=ppt/slides/slide6.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5E5C87-33AF-4421-9090-A70A713B439B}"/>
              </a:ext>
            </a:extLst>
          </p:cNvPr>
          <p:cNvSpPr>
            <a:spLocks xmlns:a="http://schemas.openxmlformats.org/drawingml/2006/main" noGrp="1"/>
          </p:cNvSpPr>
          <p:nvPr/>
        </p:nvSpPr>
        <p:spPr>
          <a:xfrm xmlns:a="http://schemas.openxmlformats.org/drawingml/2006/main">
            <a:off x="17611725" y="0"/>
            <a:ext cx="0" cy="10287000"/>
          </a:xfrm>
          <a:prstGeom xmlns:a="http://schemas.openxmlformats.org/drawingml/2006/main" prst="line">
            <a:avLst/>
          </a:prstGeom>
          <a:noFill xmlns:a="http://schemas.openxmlformats.org/drawingml/2006/main"/>
          <a:ln xmlns:a="http://schemas.openxmlformats.org/drawingml/2006/main" w="9525">
            <a:solidFill>
              <a:srgbClr val="999999"/>
            </a:solidFill>
          </a:ln>
        </p:spPr>
      </p:sp>
      <p:sp>
        <p:nvSpPr>
          <p:cNvPr id="2" name="11">
            <a:extLst xmlns:a="http://schemas.openxmlformats.org/drawingml/2006/main">
              <a:ext uri="{FF2B5EF4-FFF2-40B4-BE49-F238E27FC236}">
                <a16:creationId xmlns:a16="http://schemas.microsoft.com/office/drawing/2014/main" id="{94AEA91A-7851-4AA6-B838-69B08E48CAD8}"/>
              </a:ext>
            </a:extLst>
          </p:cNvPr>
          <p:cNvSpPr>
            <a:spLocks xmlns:a="http://schemas.openxmlformats.org/drawingml/2006/main" noGrp="1"/>
          </p:cNvSpPr>
          <p:nvPr/>
        </p:nvSpPr>
        <p:spPr>
          <a:xfrm xmlns:a="http://schemas.openxmlformats.org/drawingml/2006/main">
            <a:off x="17754600" y="95250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06</a:t>
            </a:r>
          </a:p>
        </p:txBody>
      </p:sp>
      <p:sp>
        <p:nvSpPr>
          <p:cNvPr id="3" name="EDTS  /  POC REPORT  /  2026">
            <a:extLst xmlns:a="http://schemas.openxmlformats.org/drawingml/2006/main">
              <a:ext uri="{FF2B5EF4-FFF2-40B4-BE49-F238E27FC236}">
                <a16:creationId xmlns:a16="http://schemas.microsoft.com/office/drawing/2014/main" id="{FB18E193-913E-4341-B362-136C6E8DC1C0}"/>
              </a:ext>
            </a:extLst>
          </p:cNvPr>
          <p:cNvSpPr>
            <a:spLocks xmlns:a="http://schemas.openxmlformats.org/drawingml/2006/main" noGrp="1"/>
          </p:cNvSpPr>
          <p:nvPr/>
        </p:nvSpPr>
        <p:spPr>
          <a:xfrm xmlns:a="http://schemas.openxmlformats.org/drawingml/2006/main" rot="16200000">
            <a:off x="15525750" y="59721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500" b="0">
                <a:solidFill>
                  <a:srgbClr val="191819"/>
                </a:solidFill>
                <a:latin typeface="Courier New"/>
                <a:ea typeface="Courier New"/>
                <a:cs typeface="Courier New"/>
              </a:defRPr>
            </a:pPr>
            <a:r>
              <a:rPr sz="1500" b="0">
                <a:solidFill>
                  <a:srgbClr val="191819"/>
                </a:solidFill>
                <a:latin typeface="Courier New"/>
                <a:ea typeface="Courier New"/>
                <a:cs typeface="Courier New"/>
              </a:rPr>
              <a:t>EDTS  /  POC REPORT  /  2026</a:t>
            </a:r>
          </a:p>
        </p:txBody>
      </p:sp>
      <p:sp>
        <p:nvSpPr>
          <p:cNvPr id="4" name="MOTION AND INTERACTION">
            <a:extLst xmlns:a="http://schemas.openxmlformats.org/drawingml/2006/main">
              <a:ext uri="{FF2B5EF4-FFF2-40B4-BE49-F238E27FC236}">
                <a16:creationId xmlns:a16="http://schemas.microsoft.com/office/drawing/2014/main" id="{4CC26605-E47A-41FF-8F59-9504BC3805F7}"/>
              </a:ext>
            </a:extLst>
          </p:cNvPr>
          <p:cNvSpPr>
            <a:spLocks xmlns:a="http://schemas.openxmlformats.org/drawingml/2006/main" noGrp="1"/>
          </p:cNvSpPr>
          <p:nvPr/>
        </p:nvSpPr>
        <p:spPr>
          <a:xfrm xmlns:a="http://schemas.openxmlformats.org/drawingml/2006/main">
            <a:off x="1143000" y="914400"/>
            <a:ext cx="1524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MOTION AND INTERACTION</a:t>
            </a:r>
          </a:p>
        </p:txBody>
      </p:sp>
      <p:sp>
        <p:nvSpPr>
          <p:cNvPr id="5" name="Search transitions and motion controls">
            <a:extLst xmlns:a="http://schemas.openxmlformats.org/drawingml/2006/main">
              <a:ext uri="{FF2B5EF4-FFF2-40B4-BE49-F238E27FC236}">
                <a16:creationId xmlns:a16="http://schemas.microsoft.com/office/drawing/2014/main" id="{AE589290-AC01-490C-9FFB-0EE599958FE5}"/>
              </a:ext>
            </a:extLst>
          </p:cNvPr>
          <p:cNvSpPr>
            <a:spLocks xmlns:a="http://schemas.openxmlformats.org/drawingml/2006/main" noGrp="1"/>
          </p:cNvSpPr>
          <p:nvPr/>
        </p:nvSpPr>
        <p:spPr>
          <a:xfrm xmlns:a="http://schemas.openxmlformats.org/drawingml/2006/main">
            <a:off x="1143000" y="144780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550" b="0">
                <a:solidFill>
                  <a:srgbClr val="191819"/>
                </a:solidFill>
                <a:latin typeface="Helvetica Neue"/>
                <a:ea typeface="Helvetica Neue"/>
                <a:cs typeface="Helvetica Neue"/>
              </a:defRPr>
            </a:pPr>
            <a:r>
              <a:rPr sz="5550" b="0">
                <a:solidFill>
                  <a:srgbClr val="191819"/>
                </a:solidFill>
                <a:latin typeface="Helvetica Neue"/>
                <a:ea typeface="Helvetica Neue"/>
                <a:cs typeface="Helvetica Neue"/>
              </a:rPr>
              <a:t>Search and motion controls</a:t>
            </a:r>
          </a:p>
        </p:txBody>
      </p:sp>
      <p:graphicFrame>
        <p:nvGraphicFramePr>
          <p:cNvPr id="15" name=""/>
          <p:cNvGraphicFramePr/>
          <p:nvPr/>
        </p:nvGraphicFramePr>
        <p:xfrm>
          <a:off xmlns:a="http://schemas.openxmlformats.org/drawingml/2006/main" x="1143000" y="3048000"/>
          <a:ext xmlns:a="http://schemas.openxmlformats.org/drawingml/2006/main" cx="15621000" cy="5372100"/>
        </p:xfrm>
        <a:graphic xmlns:a="http://schemas.openxmlformats.org/drawingml/2006/main">
          <a:graphicData uri="http://schemas.openxmlformats.org/drawingml/2006/table">
            <a:tbl>
              <a:tblPr firstRow="1" bandRow="0"/>
              <a:tblGrid>
                <a:gridCol w="4191000"/>
                <a:gridCol w="5715000"/>
                <a:gridCol w="5715000"/>
              </a:tblGrid>
              <a:tr h="895350">
                <a:tc>
                  <a:txBody>
                    <a:bodyPr wrap="square" lIns="152400" tIns="114300" rIns="152400" bIns="114300">
                      <a:noAutofit/>
                    </a:bodyPr>
                    <a:lstStyle/>
                    <a:p>
                      <a:r>
                        <a:rPr sz="2325" b="1">
                          <a:solidFill>
                            <a:srgbClr val="FFFFFF"/>
                          </a:solidFill>
                          <a:latin typeface="Helvetica Neue"/>
                          <a:ea typeface="Helvetica Neue"/>
                          <a:cs typeface="Helvetica Neue"/>
                        </a:rPr>
                        <a:t>Event</a:t>
                      </a:r>
                    </a:p>
                  </a:txBody>
                  <a:tcPr marL="91440" marR="91440" marT="45720" marB="45720" anchor="ctr">
                    <a:solidFill>
                      <a:srgbClr val="191819"/>
                    </a:solidFill>
                  </a:tcPr>
                </a:tc>
                <a:tc>
                  <a:txBody>
                    <a:bodyPr wrap="square" lIns="152400" tIns="114300" rIns="152400" bIns="114300">
                      <a:noAutofit/>
                    </a:bodyPr>
                    <a:lstStyle/>
                    <a:p>
                      <a:r>
                        <a:rPr sz="2325" b="1">
                          <a:solidFill>
                            <a:srgbClr val="FFFFFF"/>
                          </a:solidFill>
                          <a:latin typeface="Helvetica Neue"/>
                          <a:ea typeface="Helvetica Neue"/>
                          <a:cs typeface="Helvetica Neue"/>
                        </a:rPr>
                        <a:t>Timing / behavior</a:t>
                      </a:r>
                    </a:p>
                  </a:txBody>
                  <a:tcPr marL="91440" marR="91440" marT="45720" marB="45720" anchor="ctr">
                    <a:solidFill>
                      <a:srgbClr val="191819"/>
                    </a:solidFill>
                  </a:tcPr>
                </a:tc>
                <a:tc>
                  <a:txBody>
                    <a:bodyPr wrap="square" lIns="152400" tIns="114300" rIns="152400" bIns="114300">
                      <a:noAutofit/>
                    </a:bodyPr>
                    <a:lstStyle/>
                    <a:p>
                      <a:r>
                        <a:rPr sz="2325" b="1">
                          <a:solidFill>
                            <a:srgbClr val="FFFFFF"/>
                          </a:solidFill>
                          <a:latin typeface="Helvetica Neue"/>
                          <a:ea typeface="Helvetica Neue"/>
                          <a:cs typeface="Helvetica Neue"/>
                        </a:rPr>
                        <a:t>Interaction</a:t>
                      </a:r>
                    </a:p>
                  </a:txBody>
                  <a:tcPr marL="91440" marR="91440" marT="45720" marB="45720" anchor="ctr">
                    <a:solidFill>
                      <a:srgbClr val="191819"/>
                    </a:solidFill>
                  </a:tcPr>
                </a:tc>
              </a:tr>
              <a:tr h="895350">
                <a:tc>
                  <a:txBody>
                    <a:bodyPr wrap="square" lIns="152400" tIns="114300" rIns="152400" bIns="114300">
                      <a:noAutofit/>
                    </a:bodyPr>
                    <a:lstStyle/>
                    <a:p>
                      <a:r>
                        <a:rPr sz="2325" b="0">
                          <a:solidFill>
                            <a:srgbClr val="191819"/>
                          </a:solidFill>
                          <a:latin typeface="Helvetica Neue"/>
                          <a:ea typeface="Helvetica Neue"/>
                          <a:cs typeface="Helvetica Neue"/>
                        </a:rPr>
                        <a:t>New repeat milestone</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Scale 1 → 1.12 → 1</a:t>
                      </a:r>
                    </a:p>
                    <a:p>
                      <a:r>
                        <a:rPr sz="2325" b="0">
                          <a:solidFill>
                            <a:srgbClr val="191819"/>
                          </a:solidFill>
                          <a:latin typeface="Helvetica Neue"/>
                          <a:ea typeface="Helvetica Neue"/>
                          <a:cs typeface="Helvetica Neue"/>
                        </a:rPr>
                        <a:t>120 ms then 140 ms</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Runs when a new reward interval is earned</a:t>
                      </a:r>
                    </a:p>
                  </a:txBody>
                  <a:tcPr marL="91440" marR="91440" marT="45720" marB="45720" anchor="ctr">
                    <a:solidFill>
                      <a:srgbClr val="FFFFFF"/>
                    </a:solidFill>
                  </a:tcPr>
                </a:tc>
              </a:tr>
              <a:tr h="895350">
                <a:tc>
                  <a:txBody>
                    <a:bodyPr wrap="square" lIns="152400" tIns="114300" rIns="152400" bIns="114300">
                      <a:noAutofit/>
                    </a:bodyPr>
                    <a:lstStyle/>
                    <a:p>
                      <a:r>
                        <a:rPr sz="2325" b="0">
                          <a:solidFill>
                            <a:srgbClr val="191819"/>
                          </a:solidFill>
                          <a:latin typeface="Helvetica Neue"/>
                          <a:ea typeface="Helvetica Neue"/>
                          <a:cs typeface="Helvetica Neue"/>
                        </a:rPr>
                        <a:t>Search mode changes</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160 ms content fade-in</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Suggestion updates avoid per-character cascades</a:t>
                      </a:r>
                    </a:p>
                  </a:txBody>
                  <a:tcPr marL="91440" marR="91440" marT="45720" marB="45720" anchor="ctr">
                    <a:solidFill>
                      <a:srgbClr val="FFFFFF"/>
                    </a:solidFill>
                  </a:tcPr>
                </a:tc>
              </a:tr>
              <a:tr h="895350">
                <a:tc>
                  <a:txBody>
                    <a:bodyPr wrap="square" lIns="152400" tIns="114300" rIns="152400" bIns="114300">
                      <a:noAutofit/>
                    </a:bodyPr>
                    <a:lstStyle/>
                    <a:p>
                      <a:r>
                        <a:rPr sz="2325" b="0">
                          <a:solidFill>
                            <a:srgbClr val="191819"/>
                          </a:solidFill>
                          <a:latin typeface="Helvetica Neue"/>
                          <a:ea typeface="Helvetica Neue"/>
                          <a:cs typeface="Helvetica Neue"/>
                        </a:rPr>
                        <a:t>Search submission</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Loading, results, empty or error state</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Retry keeps the query; cart state persists</a:t>
                      </a:r>
                    </a:p>
                  </a:txBody>
                  <a:tcPr marL="91440" marR="91440" marT="45720" marB="45720" anchor="ctr">
                    <a:solidFill>
                      <a:srgbClr val="FFFFFF"/>
                    </a:solidFill>
                  </a:tcPr>
                </a:tc>
              </a:tr>
              <a:tr h="895350">
                <a:tc>
                  <a:txBody>
                    <a:bodyPr wrap="square" lIns="152400" tIns="114300" rIns="152400" bIns="114300">
                      <a:noAutofit/>
                    </a:bodyPr>
                    <a:lstStyle/>
                    <a:p>
                      <a:r>
                        <a:rPr sz="2325" b="0">
                          <a:solidFill>
                            <a:srgbClr val="191819"/>
                          </a:solidFill>
                          <a:latin typeface="Helvetica Neue"/>
                          <a:ea typeface="Helvetica Neue"/>
                          <a:cs typeface="Helvetica Neue"/>
                        </a:rPr>
                        <a:t>Sheets / keyboard</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Existing kit / Android transitions</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Native text selection, copy and paste</a:t>
                      </a:r>
                    </a:p>
                  </a:txBody>
                  <a:tcPr marL="91440" marR="91440" marT="45720" marB="45720" anchor="ctr">
                    <a:solidFill>
                      <a:srgbClr val="FFFFFF"/>
                    </a:solidFill>
                  </a:tcPr>
                </a:tc>
              </a:tr>
              <a:tr h="895350">
                <a:tc>
                  <a:txBody>
                    <a:bodyPr wrap="square" lIns="152400" tIns="114300" rIns="152400" bIns="114300">
                      <a:noAutofit/>
                    </a:bodyPr>
                    <a:lstStyle/>
                    <a:p>
                      <a:r>
                        <a:rPr sz="2325" b="0">
                          <a:solidFill>
                            <a:srgbClr val="191819"/>
                          </a:solidFill>
                          <a:latin typeface="Helvetica Neue"/>
                          <a:ea typeface="Helvetica Neue"/>
                          <a:cs typeface="Helvetica Neue"/>
                        </a:rPr>
                        <a:t>Animator scale zero</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Immediate state and label updates</a:t>
                      </a:r>
                    </a:p>
                  </a:txBody>
                  <a:tcPr marL="91440" marR="91440" marT="45720" marB="45720" anchor="ctr">
                    <a:solidFill>
                      <a:srgbClr val="FFFFFF"/>
                    </a:solidFill>
                  </a:tcPr>
                </a:tc>
                <a:tc>
                  <a:txBody>
                    <a:bodyPr wrap="square" lIns="152400" tIns="114300" rIns="152400" bIns="114300">
                      <a:noAutofit/>
                    </a:bodyPr>
                    <a:lstStyle/>
                    <a:p>
                      <a:r>
                        <a:rPr sz="2325" b="0">
                          <a:solidFill>
                            <a:srgbClr val="191819"/>
                          </a:solidFill>
                          <a:latin typeface="Helvetica Neue"/>
                          <a:ea typeface="Helvetica Neue"/>
                          <a:cs typeface="Helvetica Neue"/>
                        </a:rPr>
                        <a:t>Custom motion and loading spinner are disabled</a:t>
                      </a:r>
                    </a:p>
                  </a:txBody>
                  <a:tcPr marL="91440" marR="91440" marT="45720" marB="45720" anchor="ctr">
                    <a:solidFill>
                      <a:srgbClr val="FFFFFF"/>
                    </a:solidFill>
                  </a:tcPr>
                </a:tc>
              </a:tr>
            </a:tbl>
          </a:graphicData>
        </a:graphic>
      </p:graphicFrame>
      <p:sp>
        <p:nvSpPr>
          <p:cNvPr id="7" name="Click changes state. Scroll changes presentation. Long tap prese">
            <a:extLst xmlns:a="http://schemas.openxmlformats.org/drawingml/2006/main">
              <a:ext uri="{FF2B5EF4-FFF2-40B4-BE49-F238E27FC236}">
                <a16:creationId xmlns:a16="http://schemas.microsoft.com/office/drawing/2014/main" id="{E65116DF-685C-432F-8B3E-F160F105F0F7}"/>
              </a:ext>
            </a:extLst>
          </p:cNvPr>
          <p:cNvSpPr>
            <a:spLocks xmlns:a="http://schemas.openxmlformats.org/drawingml/2006/main" noGrp="1"/>
          </p:cNvSpPr>
          <p:nvPr/>
        </p:nvSpPr>
        <p:spPr>
          <a:xfrm xmlns:a="http://schemas.openxmlformats.org/drawingml/2006/main">
            <a:off x="1143000" y="8953500"/>
            <a:ext cx="1571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191819"/>
                </a:solidFill>
                <a:latin typeface="Helvetica Neue"/>
                <a:ea typeface="Helvetica Neue"/>
                <a:cs typeface="Helvetica Neue"/>
              </a:defRPr>
            </a:pPr>
            <a:r>
              <a:rPr sz="2625" b="0">
                <a:solidFill>
                  <a:srgbClr val="191819"/>
                </a:solidFill>
                <a:latin typeface="Helvetica Neue"/>
                <a:ea typeface="Helvetica Neue"/>
                <a:cs typeface="Helvetica Neue"/>
              </a:rPr>
              <a:t>Tap updates state. Scroll reveals the compact summary. Long tap supports text editing and product inspection.</a:t>
            </a:r>
          </a:p>
        </p:txBody>
      </p:sp>
    </p:spTree>
    <p:extLst>
      <p:ext uri="{BB962C8B-B14F-4D97-AF65-F5344CB8AC3E}">
        <p14:creationId xmlns:p14="http://schemas.microsoft.com/office/powerpoint/2010/main" val="6656830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DB8BE7E-1D73-4D97-A7C4-D0FE857F2156}"/>
              </a:ext>
            </a:extLst>
          </p:cNvPr>
          <p:cNvSpPr>
            <a:spLocks xmlns:a="http://schemas.openxmlformats.org/drawingml/2006/main" noGrp="1"/>
          </p:cNvSpPr>
          <p:nvPr/>
        </p:nvSpPr>
        <p:spPr>
          <a:xfrm xmlns:a="http://schemas.openxmlformats.org/drawingml/2006/main">
            <a:off x="17611725" y="0"/>
            <a:ext cx="0" cy="10287000"/>
          </a:xfrm>
          <a:prstGeom xmlns:a="http://schemas.openxmlformats.org/drawingml/2006/main" prst="line">
            <a:avLst/>
          </a:prstGeom>
          <a:noFill xmlns:a="http://schemas.openxmlformats.org/drawingml/2006/main"/>
          <a:ln xmlns:a="http://schemas.openxmlformats.org/drawingml/2006/main" w="9525">
            <a:solidFill>
              <a:srgbClr val="999999"/>
            </a:solidFill>
          </a:ln>
        </p:spPr>
      </p:sp>
      <p:sp>
        <p:nvSpPr>
          <p:cNvPr id="2" name="12">
            <a:extLst xmlns:a="http://schemas.openxmlformats.org/drawingml/2006/main">
              <a:ext uri="{FF2B5EF4-FFF2-40B4-BE49-F238E27FC236}">
                <a16:creationId xmlns:a16="http://schemas.microsoft.com/office/drawing/2014/main" id="{4239C398-1592-42BF-B57A-9A4C78757882}"/>
              </a:ext>
            </a:extLst>
          </p:cNvPr>
          <p:cNvSpPr>
            <a:spLocks xmlns:a="http://schemas.openxmlformats.org/drawingml/2006/main" noGrp="1"/>
          </p:cNvSpPr>
          <p:nvPr/>
        </p:nvSpPr>
        <p:spPr>
          <a:xfrm xmlns:a="http://schemas.openxmlformats.org/drawingml/2006/main">
            <a:off x="17754600" y="95250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07</a:t>
            </a:r>
          </a:p>
        </p:txBody>
      </p:sp>
      <p:sp>
        <p:nvSpPr>
          <p:cNvPr id="3" name="EDTS  /  POC REPORT  /  2026">
            <a:extLst xmlns:a="http://schemas.openxmlformats.org/drawingml/2006/main">
              <a:ext uri="{FF2B5EF4-FFF2-40B4-BE49-F238E27FC236}">
                <a16:creationId xmlns:a16="http://schemas.microsoft.com/office/drawing/2014/main" id="{B8BACE01-3B04-4E47-BECF-A1CE5CDDFE78}"/>
              </a:ext>
            </a:extLst>
          </p:cNvPr>
          <p:cNvSpPr>
            <a:spLocks xmlns:a="http://schemas.openxmlformats.org/drawingml/2006/main" noGrp="1"/>
          </p:cNvSpPr>
          <p:nvPr/>
        </p:nvSpPr>
        <p:spPr>
          <a:xfrm xmlns:a="http://schemas.openxmlformats.org/drawingml/2006/main" rot="16200000">
            <a:off x="15525750" y="59721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500" b="0">
                <a:solidFill>
                  <a:srgbClr val="191819"/>
                </a:solidFill>
                <a:latin typeface="Courier New"/>
                <a:ea typeface="Courier New"/>
                <a:cs typeface="Courier New"/>
              </a:defRPr>
            </a:pPr>
            <a:r>
              <a:rPr sz="1500" b="0">
                <a:solidFill>
                  <a:srgbClr val="191819"/>
                </a:solidFill>
                <a:latin typeface="Courier New"/>
                <a:ea typeface="Courier New"/>
                <a:cs typeface="Courier New"/>
              </a:rPr>
              <a:t>EDTS  /  POC REPORT  /  2026</a:t>
            </a:r>
          </a:p>
        </p:txBody>
      </p:sp>
      <p:sp>
        <p:nvSpPr>
          <p:cNvPr id="4" name="EVIDENCE">
            <a:extLst xmlns:a="http://schemas.openxmlformats.org/drawingml/2006/main">
              <a:ext uri="{FF2B5EF4-FFF2-40B4-BE49-F238E27FC236}">
                <a16:creationId xmlns:a16="http://schemas.microsoft.com/office/drawing/2014/main" id="{DC82B8E1-34F4-4E29-BCC9-86833A7CB9F2}"/>
              </a:ext>
            </a:extLst>
          </p:cNvPr>
          <p:cNvSpPr>
            <a:spLocks xmlns:a="http://schemas.openxmlformats.org/drawingml/2006/main" noGrp="1"/>
          </p:cNvSpPr>
          <p:nvPr/>
        </p:nvSpPr>
        <p:spPr>
          <a:xfrm xmlns:a="http://schemas.openxmlformats.org/drawingml/2006/main">
            <a:off x="1143000" y="914400"/>
            <a:ext cx="1524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VALIDATION / 1 OCTOBER 2026</a:t>
            </a:r>
          </a:p>
        </p:txBody>
      </p:sp>
      <p:sp>
        <p:nvSpPr>
          <p:cNvPr id="5" name="Validation and responsive layouts">
            <a:extLst xmlns:a="http://schemas.openxmlformats.org/drawingml/2006/main">
              <a:ext uri="{FF2B5EF4-FFF2-40B4-BE49-F238E27FC236}">
                <a16:creationId xmlns:a16="http://schemas.microsoft.com/office/drawing/2014/main" id="{C07697E0-27E4-4ACA-8E62-0CAFB4D537ED}"/>
              </a:ext>
            </a:extLst>
          </p:cNvPr>
          <p:cNvSpPr>
            <a:spLocks xmlns:a="http://schemas.openxmlformats.org/drawingml/2006/main" noGrp="1"/>
          </p:cNvSpPr>
          <p:nvPr/>
        </p:nvSpPr>
        <p:spPr>
          <a:xfrm xmlns:a="http://schemas.openxmlformats.org/drawingml/2006/main">
            <a:off x="1143000" y="144780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0">
                <a:solidFill>
                  <a:srgbClr val="191819"/>
                </a:solidFill>
                <a:latin typeface="Helvetica Neue"/>
                <a:ea typeface="Helvetica Neue"/>
                <a:cs typeface="Helvetica Neue"/>
              </a:defRPr>
            </a:pPr>
            <a:r>
              <a:rPr sz="6000" b="0">
                <a:solidFill>
                  <a:srgbClr val="191819"/>
                </a:solidFill>
                <a:latin typeface="Helvetica Neue"/>
                <a:ea typeface="Helvetica Neue"/>
                <a:cs typeface="Helvetica Neue"/>
              </a:rPr>
              <a:t>Checks and responsive layouts</a:t>
            </a:r>
          </a:p>
        </p:txBody>
      </p:sp>
      <p:sp>
        <p:nvSpPr>
          <p:cNvPr id="6" name="14 tests">
            <a:extLst xmlns:a="http://schemas.openxmlformats.org/drawingml/2006/main">
              <a:ext uri="{FF2B5EF4-FFF2-40B4-BE49-F238E27FC236}">
                <a16:creationId xmlns:a16="http://schemas.microsoft.com/office/drawing/2014/main" id="{EA37BC51-8A97-4D69-92F6-B0450FA8DE25}"/>
              </a:ext>
            </a:extLst>
          </p:cNvPr>
          <p:cNvSpPr>
            <a:spLocks xmlns:a="http://schemas.openxmlformats.org/drawingml/2006/main" noGrp="1"/>
          </p:cNvSpPr>
          <p:nvPr/>
        </p:nvSpPr>
        <p:spPr>
          <a:xfrm xmlns:a="http://schemas.openxmlformats.org/drawingml/2006/main">
            <a:off x="1143000" y="3333750"/>
            <a:ext cx="685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9450" b="0">
                <a:solidFill>
                  <a:srgbClr val="191819"/>
                </a:solidFill>
                <a:latin typeface="Helvetica Neue"/>
                <a:ea typeface="Helvetica Neue"/>
                <a:cs typeface="Helvetica Neue"/>
              </a:defRPr>
            </a:pPr>
            <a:r>
              <a:rPr sz="9450" b="0">
                <a:solidFill>
                  <a:srgbClr val="191819"/>
                </a:solidFill>
                <a:latin typeface="Helvetica Neue"/>
                <a:ea typeface="Helvetica Neue"/>
                <a:cs typeface="Helvetica Neue"/>
              </a:rPr>
              <a:t>14 tests</a:t>
            </a:r>
          </a:p>
        </p:txBody>
      </p:sp>
      <p:sp>
        <p:nvSpPr>
          <p:cNvPr id="7" name="Passed with zero failures or skips.&#10;10 tests cover the PoC state">
            <a:extLst xmlns:a="http://schemas.openxmlformats.org/drawingml/2006/main">
              <a:ext uri="{FF2B5EF4-FFF2-40B4-BE49-F238E27FC236}">
                <a16:creationId xmlns:a16="http://schemas.microsoft.com/office/drawing/2014/main" id="{0E94DF56-5853-4CC9-857A-EF2D3BE17B9B}"/>
              </a:ext>
            </a:extLst>
          </p:cNvPr>
          <p:cNvSpPr>
            <a:spLocks xmlns:a="http://schemas.openxmlformats.org/drawingml/2006/main" noGrp="1"/>
          </p:cNvSpPr>
          <p:nvPr/>
        </p:nvSpPr>
        <p:spPr>
          <a:xfrm xmlns:a="http://schemas.openxmlformats.org/drawingml/2006/main">
            <a:off x="1200150" y="4953000"/>
            <a:ext cx="7524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All app tests passed.</a:t>
            </a:r>
          </a:p>
          <a:p xmlns:a="http://schemas.openxmlformats.org/drawingml/2006/main">
            <a:pPr>
              <a:buNone/>
              <a:defRPr sz="3000" b="0">
                <a:solidFill>
                  <a:srgbClr val="191819"/>
                </a:solidFill>
                <a:latin typeface="Helvetica Neue"/>
                <a:ea typeface="Helvetica Neue"/>
                <a:cs typeface="Helvetica Neue"/>
              </a:defRPr>
            </a:pPr>
            <a:r>
              <a:rPr sz="3000" b="0">
                <a:solidFill>
                  <a:srgbClr val="191819"/>
                </a:solidFill>
                <a:latin typeface="Helvetica Neue"/>
                <a:ea typeface="Helvetica Neue"/>
                <a:cs typeface="Helvetica Neue"/>
              </a:rPr>
              <a:t>10 cover the PoC state models.</a:t>
            </a:r>
          </a:p>
        </p:txBody>
      </p:sp>
      <p:sp>
        <p:nvSpPr>
          <p:cNvPr id="8" name="Build and lint passed&#10;0 lint errors, 293 warnings&#10;&#10;Query, result">
            <a:extLst xmlns:a="http://schemas.openxmlformats.org/drawingml/2006/main">
              <a:ext uri="{FF2B5EF4-FFF2-40B4-BE49-F238E27FC236}">
                <a16:creationId xmlns:a16="http://schemas.microsoft.com/office/drawing/2014/main" id="{6423081C-C2B8-4DEC-A5EB-C972C5A33E28}"/>
              </a:ext>
            </a:extLst>
          </p:cNvPr>
          <p:cNvSpPr>
            <a:spLocks xmlns:a="http://schemas.openxmlformats.org/drawingml/2006/main" noGrp="1"/>
          </p:cNvSpPr>
          <p:nvPr/>
        </p:nvSpPr>
        <p:spPr>
          <a:xfrm xmlns:a="http://schemas.openxmlformats.org/drawingml/2006/main">
            <a:off x="1200150" y="6829425"/>
            <a:ext cx="7524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75" b="0">
                <a:solidFill>
                  <a:srgbClr val="191819"/>
                </a:solidFill>
                <a:latin typeface="Helvetica Neue"/>
                <a:ea typeface="Helvetica Neue"/>
                <a:cs typeface="Helvetica Neue"/>
              </a:defRPr>
            </a:pPr>
            <a:r>
              <a:rPr sz="2775" b="0">
                <a:solidFill>
                  <a:srgbClr val="191819"/>
                </a:solidFill>
                <a:latin typeface="Helvetica Neue"/>
                <a:ea typeface="Helvetica Neue"/>
                <a:cs typeface="Helvetica Neue"/>
              </a:rPr>
              <a:t>Debug build and code checks completed</a:t>
            </a:r>
          </a:p>
          <a:p xmlns:a="http://schemas.openxmlformats.org/drawingml/2006/main">
            <a:pPr>
              <a:buNone/>
              <a:defRPr sz="2775" b="0">
                <a:solidFill>
                  <a:srgbClr val="191819"/>
                </a:solidFill>
                <a:latin typeface="Helvetica Neue"/>
                <a:ea typeface="Helvetica Neue"/>
                <a:cs typeface="Helvetica Neue"/>
              </a:defRPr>
            </a:pPr>
            <a:r>
              <a:rPr sz="2775" b="0">
                <a:solidFill>
                  <a:srgbClr val="191819"/>
                </a:solidFill>
                <a:latin typeface="Helvetica Neue"/>
                <a:ea typeface="Helvetica Neue"/>
                <a:cs typeface="Helvetica Neue"/>
              </a:rPr>
              <a:t>0 lint errors, 293 warnings</a:t>
            </a:r>
          </a:p>
          <a:p xmlns:a="http://schemas.openxmlformats.org/drawingml/2006/main">
            <a:r>
              <a:t/>
            </a:r>
          </a:p>
          <a:p xmlns:a="http://schemas.openxmlformats.org/drawingml/2006/main">
            <a:pPr>
              <a:buNone/>
              <a:defRPr sz="2775" b="0">
                <a:solidFill>
                  <a:srgbClr val="191819"/>
                </a:solidFill>
                <a:latin typeface="Helvetica Neue"/>
                <a:ea typeface="Helvetica Neue"/>
                <a:cs typeface="Helvetica Neue"/>
              </a:defRPr>
            </a:pPr>
            <a:r>
              <a:rPr sz="2775" b="0">
                <a:solidFill>
                  <a:srgbClr val="191819"/>
                </a:solidFill>
                <a:latin typeface="Helvetica Neue"/>
                <a:ea typeface="Helvetica Neue"/>
                <a:cs typeface="Helvetica Neue"/>
              </a:rPr>
              <a:t>Search, cart and reward state</a:t>
            </a:r>
          </a:p>
          <a:p xmlns:a="http://schemas.openxmlformats.org/drawingml/2006/main">
            <a:pPr>
              <a:buNone/>
              <a:defRPr sz="2775" b="0">
                <a:solidFill>
                  <a:srgbClr val="191819"/>
                </a:solidFill>
                <a:latin typeface="Helvetica Neue"/>
                <a:ea typeface="Helvetica Neue"/>
                <a:cs typeface="Helvetica Neue"/>
              </a:defRPr>
            </a:pPr>
            <a:r>
              <a:rPr sz="2775" b="0">
                <a:solidFill>
                  <a:srgbClr val="191819"/>
                </a:solidFill>
                <a:latin typeface="Helvetica Neue"/>
                <a:ea typeface="Helvetica Neue"/>
                <a:cs typeface="Helvetica Neue"/>
              </a:rPr>
              <a:t>restored after the app restarted.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64763752934cae"/>
          <a:stretch xmlns:a="http://schemas.openxmlformats.org/drawingml/2006/main"/>
        </p:blipFill>
        <p:spPr>
          <a:xfrm xmlns:a="http://schemas.openxmlformats.org/drawingml/2006/main">
            <a:off x="10064353" y="3095625"/>
            <a:ext cx="2636044" cy="5857875"/>
          </a:xfrm>
          <a:prstGeom xmlns:a="http://schemas.openxmlformats.org/drawingml/2006/main" prst="rect">
            <a:avLst/>
          </a:prstGeom>
        </p:spPr>
      </p:pic>
      <p:sp>
        <p:nvSpPr>
          <p:cNvPr id="10" name="320 dp / 200% text">
            <a:extLst xmlns:a="http://schemas.openxmlformats.org/drawingml/2006/main">
              <a:ext uri="{FF2B5EF4-FFF2-40B4-BE49-F238E27FC236}">
                <a16:creationId xmlns:a16="http://schemas.microsoft.com/office/drawing/2014/main" id="{FC07DE82-5367-40E5-ACD0-92733EEC01F3}"/>
              </a:ext>
            </a:extLst>
          </p:cNvPr>
          <p:cNvSpPr>
            <a:spLocks xmlns:a="http://schemas.openxmlformats.org/drawingml/2006/main" noGrp="1"/>
          </p:cNvSpPr>
          <p:nvPr/>
        </p:nvSpPr>
        <p:spPr>
          <a:xfrm xmlns:a="http://schemas.openxmlformats.org/drawingml/2006/main">
            <a:off x="9810750" y="906780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91819"/>
                </a:solidFill>
                <a:latin typeface="Helvetica Neue"/>
                <a:ea typeface="Helvetica Neue"/>
                <a:cs typeface="Helvetica Neue"/>
              </a:defRPr>
            </a:pPr>
            <a:r>
              <a:rPr sz="2100" b="0">
                <a:solidFill>
                  <a:srgbClr val="191819"/>
                </a:solidFill>
                <a:latin typeface="Helvetica Neue"/>
                <a:ea typeface="Helvetica Neue"/>
                <a:cs typeface="Helvetica Neue"/>
              </a:rPr>
              <a:t>320 dp / 200% text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248272934ef40dc"/>
          <a:stretch xmlns:a="http://schemas.openxmlformats.org/drawingml/2006/main"/>
        </p:blipFill>
        <p:spPr>
          <a:xfrm xmlns:a="http://schemas.openxmlformats.org/drawingml/2006/main">
            <a:off x="13874353" y="3095625"/>
            <a:ext cx="2636044" cy="5857875"/>
          </a:xfrm>
          <a:prstGeom xmlns:a="http://schemas.openxmlformats.org/drawingml/2006/main" prst="rect">
            <a:avLst/>
          </a:prstGeom>
        </p:spPr>
      </p:pic>
      <p:sp>
        <p:nvSpPr>
          <p:cNvPr id="12" name="600 dp portrait">
            <a:extLst xmlns:a="http://schemas.openxmlformats.org/drawingml/2006/main">
              <a:ext uri="{FF2B5EF4-FFF2-40B4-BE49-F238E27FC236}">
                <a16:creationId xmlns:a16="http://schemas.microsoft.com/office/drawing/2014/main" id="{E918525C-8AF0-40B0-983C-26B336A1A597}"/>
              </a:ext>
            </a:extLst>
          </p:cNvPr>
          <p:cNvSpPr>
            <a:spLocks xmlns:a="http://schemas.openxmlformats.org/drawingml/2006/main" noGrp="1"/>
          </p:cNvSpPr>
          <p:nvPr/>
        </p:nvSpPr>
        <p:spPr>
          <a:xfrm xmlns:a="http://schemas.openxmlformats.org/drawingml/2006/main">
            <a:off x="13620750" y="906780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91819"/>
                </a:solidFill>
                <a:latin typeface="Helvetica Neue"/>
                <a:ea typeface="Helvetica Neue"/>
                <a:cs typeface="Helvetica Neue"/>
              </a:defRPr>
            </a:pPr>
            <a:r>
              <a:rPr sz="2100" b="0">
                <a:solidFill>
                  <a:srgbClr val="191819"/>
                </a:solidFill>
                <a:latin typeface="Helvetica Neue"/>
                <a:ea typeface="Helvetica Neue"/>
                <a:cs typeface="Helvetica Neue"/>
              </a:rPr>
              <a:t>600 dp portrait</a:t>
            </a:r>
          </a:p>
        </p:txBody>
      </p:sp>
    </p:spTree>
    <p:extLst>
      <p:ext uri="{BB962C8B-B14F-4D97-AF65-F5344CB8AC3E}">
        <p14:creationId xmlns:p14="http://schemas.microsoft.com/office/powerpoint/2010/main" val="361468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BDFA499-3343-4215-A460-D597EC388DB6}"/>
              </a:ext>
            </a:extLst>
          </p:cNvPr>
          <p:cNvSpPr>
            <a:spLocks xmlns:a="http://schemas.openxmlformats.org/drawingml/2006/main" noGrp="1"/>
          </p:cNvSpPr>
          <p:nvPr/>
        </p:nvSpPr>
        <p:spPr>
          <a:xfrm xmlns:a="http://schemas.openxmlformats.org/drawingml/2006/main">
            <a:off x="17611725" y="0"/>
            <a:ext cx="0" cy="10287000"/>
          </a:xfrm>
          <a:prstGeom xmlns:a="http://schemas.openxmlformats.org/drawingml/2006/main" prst="line">
            <a:avLst/>
          </a:prstGeom>
          <a:noFill xmlns:a="http://schemas.openxmlformats.org/drawingml/2006/main"/>
          <a:ln xmlns:a="http://schemas.openxmlformats.org/drawingml/2006/main" w="9525">
            <a:solidFill>
              <a:srgbClr val="999999"/>
            </a:solidFill>
          </a:ln>
        </p:spPr>
      </p:sp>
      <p:sp>
        <p:nvSpPr>
          <p:cNvPr id="2" name="13">
            <a:extLst xmlns:a="http://schemas.openxmlformats.org/drawingml/2006/main">
              <a:ext uri="{FF2B5EF4-FFF2-40B4-BE49-F238E27FC236}">
                <a16:creationId xmlns:a16="http://schemas.microsoft.com/office/drawing/2014/main" id="{C19334BB-58D3-4127-B83E-7182E6F25713}"/>
              </a:ext>
            </a:extLst>
          </p:cNvPr>
          <p:cNvSpPr>
            <a:spLocks xmlns:a="http://schemas.openxmlformats.org/drawingml/2006/main" noGrp="1"/>
          </p:cNvSpPr>
          <p:nvPr/>
        </p:nvSpPr>
        <p:spPr>
          <a:xfrm xmlns:a="http://schemas.openxmlformats.org/drawingml/2006/main">
            <a:off x="17754600" y="95250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08</a:t>
            </a:r>
          </a:p>
        </p:txBody>
      </p:sp>
      <p:sp>
        <p:nvSpPr>
          <p:cNvPr id="3" name="EDTS  /  POC REPORT  /  2026">
            <a:extLst xmlns:a="http://schemas.openxmlformats.org/drawingml/2006/main">
              <a:ext uri="{FF2B5EF4-FFF2-40B4-BE49-F238E27FC236}">
                <a16:creationId xmlns:a16="http://schemas.microsoft.com/office/drawing/2014/main" id="{BA4011FA-1815-477F-861D-1187CBD600EB}"/>
              </a:ext>
            </a:extLst>
          </p:cNvPr>
          <p:cNvSpPr>
            <a:spLocks xmlns:a="http://schemas.openxmlformats.org/drawingml/2006/main" noGrp="1"/>
          </p:cNvSpPr>
          <p:nvPr/>
        </p:nvSpPr>
        <p:spPr>
          <a:xfrm xmlns:a="http://schemas.openxmlformats.org/drawingml/2006/main" rot="16200000">
            <a:off x="15525750" y="59721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buNone/>
              <a:defRPr sz="1500" b="0">
                <a:solidFill>
                  <a:srgbClr val="191819"/>
                </a:solidFill>
                <a:latin typeface="Courier New"/>
                <a:ea typeface="Courier New"/>
                <a:cs typeface="Courier New"/>
              </a:defRPr>
            </a:pPr>
            <a:r>
              <a:rPr sz="1500" b="0">
                <a:solidFill>
                  <a:srgbClr val="191819"/>
                </a:solidFill>
                <a:latin typeface="Courier New"/>
                <a:ea typeface="Courier New"/>
                <a:cs typeface="Courier New"/>
              </a:rPr>
              <a:t>EDTS  /  POC REPORT  /  2026</a:t>
            </a:r>
          </a:p>
        </p:txBody>
      </p:sp>
      <p:sp>
        <p:nvSpPr>
          <p:cNvPr id="4" name="ACCEPTANCE BOUNDARIES">
            <a:extLst xmlns:a="http://schemas.openxmlformats.org/drawingml/2006/main">
              <a:ext uri="{FF2B5EF4-FFF2-40B4-BE49-F238E27FC236}">
                <a16:creationId xmlns:a16="http://schemas.microsoft.com/office/drawing/2014/main" id="{B3F2C4AC-C905-4506-8618-F8D259F5A746}"/>
              </a:ext>
            </a:extLst>
          </p:cNvPr>
          <p:cNvSpPr>
            <a:spLocks xmlns:a="http://schemas.openxmlformats.org/drawingml/2006/main" noGrp="1"/>
          </p:cNvSpPr>
          <p:nvPr/>
        </p:nvSpPr>
        <p:spPr>
          <a:xfrm xmlns:a="http://schemas.openxmlformats.org/drawingml/2006/main">
            <a:off x="1143000" y="914400"/>
            <a:ext cx="1524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91819"/>
                </a:solidFill>
                <a:latin typeface="Courier New"/>
                <a:ea typeface="Courier New"/>
                <a:cs typeface="Courier New"/>
              </a:defRPr>
            </a:pPr>
            <a:r>
              <a:rPr sz="1800" b="0">
                <a:solidFill>
                  <a:srgbClr val="191819"/>
                </a:solidFill>
                <a:latin typeface="Courier New"/>
                <a:ea typeface="Courier New"/>
                <a:cs typeface="Courier New"/>
              </a:rPr>
              <a:t>SUMMARY</a:t>
            </a:r>
          </a:p>
        </p:txBody>
      </p:sp>
      <p:sp>
        <p:nvSpPr>
          <p:cNvPr id="5" name="Working demo and production gaps">
            <a:extLst xmlns:a="http://schemas.openxmlformats.org/drawingml/2006/main">
              <a:ext uri="{FF2B5EF4-FFF2-40B4-BE49-F238E27FC236}">
                <a16:creationId xmlns:a16="http://schemas.microsoft.com/office/drawing/2014/main" id="{AD479F1D-6DF8-4EF9-9693-F0D54528B9FC}"/>
              </a:ext>
            </a:extLst>
          </p:cNvPr>
          <p:cNvSpPr>
            <a:spLocks xmlns:a="http://schemas.openxmlformats.org/drawingml/2006/main" noGrp="1"/>
          </p:cNvSpPr>
          <p:nvPr/>
        </p:nvSpPr>
        <p:spPr>
          <a:xfrm xmlns:a="http://schemas.openxmlformats.org/drawingml/2006/main">
            <a:off x="1143000" y="1447800"/>
            <a:ext cx="1609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0">
                <a:solidFill>
                  <a:srgbClr val="191819"/>
                </a:solidFill>
                <a:latin typeface="Helvetica Neue"/>
                <a:ea typeface="Helvetica Neue"/>
                <a:cs typeface="Helvetica Neue"/>
              </a:defRPr>
            </a:pPr>
            <a:r>
              <a:rPr sz="6000" b="0">
                <a:solidFill>
                  <a:srgbClr val="191819"/>
                </a:solidFill>
                <a:latin typeface="Helvetica Neue"/>
                <a:ea typeface="Helvetica Neue"/>
                <a:cs typeface="Helvetica Neue"/>
              </a:rPr>
              <a:t>AI execution with human direction</a:t>
            </a:r>
          </a:p>
        </p:txBody>
      </p:sp>
      <p:sp>
        <p:nvSpPr>
          <p:cNvPr id="6" name="Local data and navigation">
            <a:extLst xmlns:a="http://schemas.openxmlformats.org/drawingml/2006/main">
              <a:ext uri="{FF2B5EF4-FFF2-40B4-BE49-F238E27FC236}">
                <a16:creationId xmlns:a16="http://schemas.microsoft.com/office/drawing/2014/main" id="{9BF301A9-B371-4EEB-9498-506DFAE97061}"/>
              </a:ext>
            </a:extLst>
          </p:cNvPr>
          <p:cNvSpPr>
            <a:spLocks xmlns:a="http://schemas.openxmlformats.org/drawingml/2006/main" noGrp="1"/>
          </p:cNvSpPr>
          <p:nvPr/>
        </p:nvSpPr>
        <p:spPr>
          <a:xfrm xmlns:a="http://schemas.openxmlformats.org/drawingml/2006/main">
            <a:off x="1143000" y="3143250"/>
            <a:ext cx="1552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91819"/>
                </a:solidFill>
                <a:latin typeface="Helvetica Neue"/>
                <a:ea typeface="Helvetica Neue"/>
                <a:cs typeface="Helvetica Neue"/>
              </a:defRPr>
            </a:pPr>
            <a:r>
              <a:rPr sz="3225" b="1">
                <a:solidFill>
                  <a:srgbClr val="191819"/>
                </a:solidFill>
                <a:latin typeface="Helvetica Neue"/>
                <a:ea typeface="Helvetica Neue"/>
                <a:cs typeface="Helvetica Neue"/>
              </a:rPr>
              <a:t>Contribution</a:t>
            </a:r>
          </a:p>
        </p:txBody>
      </p:sp>
      <p:sp>
        <p:nvSpPr>
          <p:cNvPr id="7" name="No backend, checkout or redemption charging. General search uses">
            <a:extLst xmlns:a="http://schemas.openxmlformats.org/drawingml/2006/main">
              <a:ext uri="{FF2B5EF4-FFF2-40B4-BE49-F238E27FC236}">
                <a16:creationId xmlns:a16="http://schemas.microsoft.com/office/drawing/2014/main" id="{032F1B1A-D0A0-4CE0-B75A-BB0F08F5804A}"/>
              </a:ext>
            </a:extLst>
          </p:cNvPr>
          <p:cNvSpPr>
            <a:spLocks xmlns:a="http://schemas.openxmlformats.org/drawingml/2006/main" noGrp="1"/>
          </p:cNvSpPr>
          <p:nvPr/>
        </p:nvSpPr>
        <p:spPr>
          <a:xfrm xmlns:a="http://schemas.openxmlformats.org/drawingml/2006/main">
            <a:off x="1143000" y="3752850"/>
            <a:ext cx="1552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606060"/>
                </a:solidFill>
                <a:latin typeface="Helvetica Neue"/>
                <a:ea typeface="Helvetica Neue"/>
                <a:cs typeface="Helvetica Neue"/>
              </a:defRPr>
            </a:pPr>
            <a:r>
              <a:rPr sz="2625" b="0">
                <a:solidFill>
                  <a:srgbClr val="606060"/>
                </a:solidFill>
                <a:latin typeface="Helvetica Neue"/>
                <a:ea typeface="Helvetica Neue"/>
                <a:cs typeface="Helvetica Neue"/>
              </a:rPr>
              <a:t>Humans supplied designs, constraints and approval. AI implemented, repaired and checked the two flows.</a:t>
            </a:r>
          </a:p>
        </p:txBody>
      </p:sp>
      <p:sp>
        <p:nvSpPr>
          <p:cNvPr id="8" name="Design fidelity">
            <a:extLst xmlns:a="http://schemas.openxmlformats.org/drawingml/2006/main">
              <a:ext uri="{FF2B5EF4-FFF2-40B4-BE49-F238E27FC236}">
                <a16:creationId xmlns:a16="http://schemas.microsoft.com/office/drawing/2014/main" id="{BF3A5B7A-96EF-45E9-BA2F-E6DD54990491}"/>
              </a:ext>
            </a:extLst>
          </p:cNvPr>
          <p:cNvSpPr>
            <a:spLocks xmlns:a="http://schemas.openxmlformats.org/drawingml/2006/main" noGrp="1"/>
          </p:cNvSpPr>
          <p:nvPr/>
        </p:nvSpPr>
        <p:spPr>
          <a:xfrm xmlns:a="http://schemas.openxmlformats.org/drawingml/2006/main">
            <a:off x="1143000" y="4733925"/>
            <a:ext cx="1552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91819"/>
                </a:solidFill>
                <a:latin typeface="Helvetica Neue"/>
                <a:ea typeface="Helvetica Neue"/>
                <a:cs typeface="Helvetica Neue"/>
              </a:defRPr>
            </a:pPr>
            <a:r>
              <a:rPr sz="3225" b="1">
                <a:solidFill>
                  <a:srgbClr val="191819"/>
                </a:solidFill>
                <a:latin typeface="Helvetica Neue"/>
                <a:ea typeface="Helvetica Neue"/>
                <a:cs typeface="Helvetica Neue"/>
              </a:rPr>
              <a:t>Model and access</a:t>
            </a:r>
          </a:p>
        </p:txBody>
      </p:sp>
      <p:sp>
        <p:nvSpPr>
          <p:cNvPr id="9" name="Original assets and control sizes remain. Source inconsistencies">
            <a:extLst xmlns:a="http://schemas.openxmlformats.org/drawingml/2006/main">
              <a:ext uri="{FF2B5EF4-FFF2-40B4-BE49-F238E27FC236}">
                <a16:creationId xmlns:a16="http://schemas.microsoft.com/office/drawing/2014/main" id="{649C0813-0CAE-428A-91C3-44C136877363}"/>
              </a:ext>
            </a:extLst>
          </p:cNvPr>
          <p:cNvSpPr>
            <a:spLocks xmlns:a="http://schemas.openxmlformats.org/drawingml/2006/main" noGrp="1"/>
          </p:cNvSpPr>
          <p:nvPr/>
        </p:nvSpPr>
        <p:spPr>
          <a:xfrm xmlns:a="http://schemas.openxmlformats.org/drawingml/2006/main">
            <a:off x="1143000" y="5343525"/>
            <a:ext cx="1552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606060"/>
                </a:solidFill>
                <a:latin typeface="Helvetica Neue"/>
                <a:ea typeface="Helvetica Neue"/>
                <a:cs typeface="Helvetica Neue"/>
              </a:defRPr>
            </a:pPr>
            <a:r>
              <a:rPr sz="2625" b="0">
                <a:solidFill>
                  <a:srgbClr val="606060"/>
                </a:solidFill>
                <a:latin typeface="Helvetica Neue"/>
                <a:ea typeface="Helvetica Neue"/>
                <a:cs typeface="Helvetica Neue"/>
              </a:rPr>
              <a:t>GPT-6.1 Sol (developer-stated). Temporary subsidy reported, with terms unverified.</a:t>
            </a:r>
          </a:p>
        </p:txBody>
      </p:sp>
      <p:sp>
        <p:nvSpPr>
          <p:cNvPr id="10" name="Accessibility acceptance">
            <a:extLst xmlns:a="http://schemas.openxmlformats.org/drawingml/2006/main">
              <a:ext uri="{FF2B5EF4-FFF2-40B4-BE49-F238E27FC236}">
                <a16:creationId xmlns:a16="http://schemas.microsoft.com/office/drawing/2014/main" id="{01387722-210C-44B1-B46C-AE80B6AEEEC6}"/>
              </a:ext>
            </a:extLst>
          </p:cNvPr>
          <p:cNvSpPr>
            <a:spLocks xmlns:a="http://schemas.openxmlformats.org/drawingml/2006/main" noGrp="1"/>
          </p:cNvSpPr>
          <p:nvPr/>
        </p:nvSpPr>
        <p:spPr>
          <a:xfrm xmlns:a="http://schemas.openxmlformats.org/drawingml/2006/main">
            <a:off x="1143000" y="6324600"/>
            <a:ext cx="1552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91819"/>
                </a:solidFill>
                <a:latin typeface="Helvetica Neue"/>
                <a:ea typeface="Helvetica Neue"/>
                <a:cs typeface="Helvetica Neue"/>
              </a:defRPr>
            </a:pPr>
            <a:r>
              <a:rPr sz="3225" b="1">
                <a:solidFill>
                  <a:srgbClr val="191819"/>
                </a:solidFill>
                <a:latin typeface="Helvetica Neue"/>
                <a:ea typeface="Helvetica Neue"/>
                <a:cs typeface="Helvetica Neue"/>
              </a:rPr>
              <a:t>PoC scope</a:t>
            </a:r>
          </a:p>
        </p:txBody>
      </p:sp>
      <p:sp>
        <p:nvSpPr>
          <p:cNvPr id="11" name="TalkBack labels are implemented. Small targets remain. Live Talk">
            <a:extLst xmlns:a="http://schemas.openxmlformats.org/drawingml/2006/main">
              <a:ext uri="{FF2B5EF4-FFF2-40B4-BE49-F238E27FC236}">
                <a16:creationId xmlns:a16="http://schemas.microsoft.com/office/drawing/2014/main" id="{ECEB6CE7-33E4-4290-A777-9456FA4A4306}"/>
              </a:ext>
            </a:extLst>
          </p:cNvPr>
          <p:cNvSpPr>
            <a:spLocks xmlns:a="http://schemas.openxmlformats.org/drawingml/2006/main" noGrp="1"/>
          </p:cNvSpPr>
          <p:nvPr/>
        </p:nvSpPr>
        <p:spPr>
          <a:xfrm xmlns:a="http://schemas.openxmlformats.org/drawingml/2006/main">
            <a:off x="1143000" y="6934200"/>
            <a:ext cx="1552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606060"/>
                </a:solidFill>
                <a:latin typeface="Helvetica Neue"/>
                <a:ea typeface="Helvetica Neue"/>
                <a:cs typeface="Helvetica Neue"/>
              </a:defRPr>
            </a:pPr>
            <a:r>
              <a:rPr sz="2625" b="0">
                <a:solidFill>
                  <a:srgbClr val="606060"/>
                </a:solidFill>
                <a:latin typeface="Helvetica Neue"/>
                <a:ea typeface="Helvetica Neue"/>
                <a:cs typeface="Helvetica Neue"/>
              </a:rPr>
              <a:t>Sample data and demo navigation. Backend integration, checkout and redemption charging are outside scope.</a:t>
            </a:r>
          </a:p>
        </p:txBody>
      </p:sp>
      <p:sp>
        <p:nvSpPr>
          <p:cNvPr id="12" name="Device and motion assurance">
            <a:extLst xmlns:a="http://schemas.openxmlformats.org/drawingml/2006/main">
              <a:ext uri="{FF2B5EF4-FFF2-40B4-BE49-F238E27FC236}">
                <a16:creationId xmlns:a16="http://schemas.microsoft.com/office/drawing/2014/main" id="{FCCD2439-1384-482D-8F77-808E696AECDF}"/>
              </a:ext>
            </a:extLst>
          </p:cNvPr>
          <p:cNvSpPr>
            <a:spLocks xmlns:a="http://schemas.openxmlformats.org/drawingml/2006/main" noGrp="1"/>
          </p:cNvSpPr>
          <p:nvPr/>
        </p:nvSpPr>
        <p:spPr>
          <a:xfrm xmlns:a="http://schemas.openxmlformats.org/drawingml/2006/main">
            <a:off x="1143000" y="7915275"/>
            <a:ext cx="1552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191819"/>
                </a:solidFill>
                <a:latin typeface="Helvetica Neue"/>
                <a:ea typeface="Helvetica Neue"/>
                <a:cs typeface="Helvetica Neue"/>
              </a:defRPr>
            </a:pPr>
            <a:r>
              <a:rPr sz="3225" b="1">
                <a:solidFill>
                  <a:srgbClr val="191819"/>
                </a:solidFill>
                <a:latin typeface="Helvetica Neue"/>
                <a:ea typeface="Helvetica Neue"/>
                <a:cs typeface="Helvetica Neue"/>
              </a:rPr>
              <a:t>Remaining checks</a:t>
            </a:r>
          </a:p>
        </p:txBody>
      </p:sp>
      <p:sp>
        <p:nvSpPr>
          <p:cNvPr id="13" name="Pixel 4/API29 emulator evidence only. Newer insets and measured ">
            <a:extLst xmlns:a="http://schemas.openxmlformats.org/drawingml/2006/main">
              <a:ext uri="{FF2B5EF4-FFF2-40B4-BE49-F238E27FC236}">
                <a16:creationId xmlns:a16="http://schemas.microsoft.com/office/drawing/2014/main" id="{AD07F424-13CE-4F1A-9E60-60791F1D8FFC}"/>
              </a:ext>
            </a:extLst>
          </p:cNvPr>
          <p:cNvSpPr>
            <a:spLocks xmlns:a="http://schemas.openxmlformats.org/drawingml/2006/main" noGrp="1"/>
          </p:cNvSpPr>
          <p:nvPr/>
        </p:nvSpPr>
        <p:spPr>
          <a:xfrm xmlns:a="http://schemas.openxmlformats.org/drawingml/2006/main">
            <a:off x="1143000" y="8524875"/>
            <a:ext cx="1552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606060"/>
                </a:solidFill>
                <a:latin typeface="Helvetica Neue"/>
                <a:ea typeface="Helvetica Neue"/>
                <a:cs typeface="Helvetica Neue"/>
              </a:defRPr>
            </a:pPr>
            <a:r>
              <a:rPr sz="2625" b="0">
                <a:solidFill>
                  <a:srgbClr val="606060"/>
                </a:solidFill>
                <a:latin typeface="Helvetica Neue"/>
                <a:ea typeface="Helvetica Neue"/>
                <a:cs typeface="Helvetica Neue"/>
              </a:rPr>
              <a:t>Confirm business rules and test live accessibility, more devices and animation performance before production.</a:t>
            </a:r>
          </a:p>
        </p:txBody>
      </p:sp>
    </p:spTree>
    <p:extLst>
      <p:ext uri="{BB962C8B-B14F-4D97-AF65-F5344CB8AC3E}">
        <p14:creationId xmlns:p14="http://schemas.microsoft.com/office/powerpoint/2010/main" val="992057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2026-10-08T03:32:58.4790000Z</dcterms:created>
  <dcterms:modified xsi:type="dcterms:W3CDTF">2026-10-08T03:32:58.4790000Z</dcterms:modified>
</coreProperties>
</file>